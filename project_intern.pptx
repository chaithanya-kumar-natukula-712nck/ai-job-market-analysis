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Bricolage Grotesque Medium" charset="1" panose="020B0605040402000204"/>
      <p:regular r:id="rId23"/>
    </p:embeddedFont>
    <p:embeddedFont>
      <p:font typeface="Bricolage Grotesque" charset="1" panose="020B0605040402000204"/>
      <p:regular r:id="rId24"/>
    </p:embeddedFont>
    <p:embeddedFont>
      <p:font typeface="Helvetica World" charset="1" panose="020B0500040000020004"/>
      <p:regular r:id="rId25"/>
    </p:embeddedFont>
    <p:embeddedFont>
      <p:font typeface="Agrandir" charset="1" panose="00000500000000000000"/>
      <p:regular r:id="rId26"/>
    </p:embeddedFont>
    <p:embeddedFont>
      <p:font typeface="Poppins" charset="1" panose="00000500000000000000"/>
      <p:regular r:id="rId27"/>
    </p:embeddedFont>
    <p:embeddedFont>
      <p:font typeface="Helvetica World Bold" charset="1" panose="020B0800040000020004"/>
      <p:regular r:id="rId28"/>
    </p:embeddedFont>
    <p:embeddedFont>
      <p:font typeface="Disket Mono Bold" charset="1" panose="020B0509050000020004"/>
      <p:regular r:id="rId29"/>
    </p:embeddedFont>
    <p:embeddedFont>
      <p:font typeface="Belleza" charset="1" panose="02000503050000020003"/>
      <p:regular r:id="rId30"/>
    </p:embeddedFont>
    <p:embeddedFont>
      <p:font typeface="Yesteryear" charset="1" panose="03020802040607070802"/>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3309870" y="4748448"/>
            <a:ext cx="12046970" cy="0"/>
          </a:xfrm>
          <a:prstGeom prst="line">
            <a:avLst/>
          </a:prstGeom>
          <a:ln cap="flat" w="9525">
            <a:solidFill>
              <a:srgbClr val="FFFFFF"/>
            </a:solidFill>
            <a:prstDash val="solid"/>
            <a:headEnd type="none" len="sm" w="sm"/>
            <a:tailEnd type="none" len="sm" w="sm"/>
          </a:ln>
        </p:spPr>
      </p:sp>
      <p:sp>
        <p:nvSpPr>
          <p:cNvPr name="AutoShape 3" id="3"/>
          <p:cNvSpPr/>
          <p:nvPr/>
        </p:nvSpPr>
        <p:spPr>
          <a:xfrm>
            <a:off x="2633580" y="2167117"/>
            <a:ext cx="12046970" cy="0"/>
          </a:xfrm>
          <a:prstGeom prst="line">
            <a:avLst/>
          </a:prstGeom>
          <a:ln cap="flat" w="9525">
            <a:solidFill>
              <a:srgbClr val="FFFFFF"/>
            </a:solidFill>
            <a:prstDash val="solid"/>
            <a:headEnd type="none" len="sm" w="sm"/>
            <a:tailEnd type="none" len="sm" w="sm"/>
          </a:ln>
        </p:spPr>
      </p:sp>
      <p:sp>
        <p:nvSpPr>
          <p:cNvPr name="TextBox 4" id="4"/>
          <p:cNvSpPr txBox="true"/>
          <p:nvPr/>
        </p:nvSpPr>
        <p:spPr>
          <a:xfrm rot="0">
            <a:off x="3803625" y="2495729"/>
            <a:ext cx="10278954" cy="2252719"/>
          </a:xfrm>
          <a:prstGeom prst="rect">
            <a:avLst/>
          </a:prstGeom>
        </p:spPr>
        <p:txBody>
          <a:bodyPr anchor="t" rtlCol="false" tIns="0" lIns="0" bIns="0" rIns="0">
            <a:spAutoFit/>
          </a:bodyPr>
          <a:lstStyle/>
          <a:p>
            <a:pPr algn="ctr">
              <a:lnSpc>
                <a:spcPts val="8470"/>
              </a:lnSpc>
            </a:pPr>
            <a:r>
              <a:rPr lang="en-US" b="true" sz="9965" spc="-528">
                <a:solidFill>
                  <a:srgbClr val="FFFFFF"/>
                </a:solidFill>
                <a:latin typeface="Bricolage Grotesque Medium"/>
                <a:ea typeface="Bricolage Grotesque Medium"/>
                <a:cs typeface="Bricolage Grotesque Medium"/>
                <a:sym typeface="Bricolage Grotesque Medium"/>
              </a:rPr>
              <a:t>AI JOB MARKET ANALYSIS</a:t>
            </a:r>
          </a:p>
        </p:txBody>
      </p:sp>
      <p:sp>
        <p:nvSpPr>
          <p:cNvPr name="Freeform 5" id="5"/>
          <p:cNvSpPr/>
          <p:nvPr/>
        </p:nvSpPr>
        <p:spPr>
          <a:xfrm flipH="false" flipV="false" rot="5400000">
            <a:off x="1028700" y="1028700"/>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62824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14280469" y="6161192"/>
            <a:ext cx="2975823" cy="2975823"/>
          </a:xfrm>
          <a:custGeom>
            <a:avLst/>
            <a:gdLst/>
            <a:ahLst/>
            <a:cxnLst/>
            <a:rect r="r" b="b" t="t" l="l"/>
            <a:pathLst>
              <a:path h="2975823" w="2975823">
                <a:moveTo>
                  <a:pt x="0" y="0"/>
                </a:moveTo>
                <a:lnTo>
                  <a:pt x="2975822" y="0"/>
                </a:lnTo>
                <a:lnTo>
                  <a:pt x="2975822"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14280469" y="907415"/>
            <a:ext cx="2975823" cy="2975823"/>
          </a:xfrm>
          <a:custGeom>
            <a:avLst/>
            <a:gdLst/>
            <a:ahLst/>
            <a:cxnLst/>
            <a:rect r="r" b="b" t="t" l="l"/>
            <a:pathLst>
              <a:path h="2975823" w="2975823">
                <a:moveTo>
                  <a:pt x="0" y="0"/>
                </a:moveTo>
                <a:lnTo>
                  <a:pt x="2975822" y="0"/>
                </a:lnTo>
                <a:lnTo>
                  <a:pt x="2975822"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213711" y="5310254"/>
            <a:ext cx="3349914" cy="3349914"/>
          </a:xfrm>
          <a:custGeom>
            <a:avLst/>
            <a:gdLst/>
            <a:ahLst/>
            <a:cxnLst/>
            <a:rect r="r" b="b" t="t" l="l"/>
            <a:pathLst>
              <a:path h="3349914" w="3349914">
                <a:moveTo>
                  <a:pt x="0" y="0"/>
                </a:moveTo>
                <a:lnTo>
                  <a:pt x="3349914" y="0"/>
                </a:lnTo>
                <a:lnTo>
                  <a:pt x="3349914" y="3349914"/>
                </a:lnTo>
                <a:lnTo>
                  <a:pt x="0" y="3349914"/>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4928361" y="222212"/>
            <a:ext cx="5053831" cy="1451050"/>
          </a:xfrm>
          <a:prstGeom prst="rect">
            <a:avLst/>
          </a:prstGeom>
        </p:spPr>
        <p:txBody>
          <a:bodyPr anchor="t" rtlCol="false" tIns="0" lIns="0" bIns="0" rIns="0">
            <a:spAutoFit/>
          </a:bodyPr>
          <a:lstStyle/>
          <a:p>
            <a:pPr algn="ctr">
              <a:lnSpc>
                <a:spcPts val="11899"/>
              </a:lnSpc>
              <a:spcBef>
                <a:spcPct val="0"/>
              </a:spcBef>
            </a:pPr>
            <a:r>
              <a:rPr lang="en-US" sz="8499" spc="-450" u="sng">
                <a:solidFill>
                  <a:srgbClr val="FFFFFF"/>
                </a:solidFill>
                <a:latin typeface="Bricolage Grotesque"/>
                <a:ea typeface="Bricolage Grotesque"/>
                <a:cs typeface="Bricolage Grotesque"/>
                <a:sym typeface="Bricolage Grotesque"/>
              </a:rPr>
              <a:t>CONTENTS</a:t>
            </a:r>
          </a:p>
        </p:txBody>
      </p:sp>
      <p:sp>
        <p:nvSpPr>
          <p:cNvPr name="TextBox 3" id="3"/>
          <p:cNvSpPr txBox="true"/>
          <p:nvPr/>
        </p:nvSpPr>
        <p:spPr>
          <a:xfrm rot="0">
            <a:off x="1885963" y="1922892"/>
            <a:ext cx="9664712" cy="7928610"/>
          </a:xfrm>
          <a:prstGeom prst="rect">
            <a:avLst/>
          </a:prstGeom>
        </p:spPr>
        <p:txBody>
          <a:bodyPr anchor="t" rtlCol="false" tIns="0" lIns="0" bIns="0" rIns="0">
            <a:spAutoFit/>
          </a:bodyPr>
          <a:lstStyle/>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ABSTRACT</a:t>
            </a:r>
          </a:p>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Intr</a:t>
            </a:r>
            <a:r>
              <a:rPr lang="en-US" b="true" sz="4500" spc="-94">
                <a:solidFill>
                  <a:srgbClr val="FFFFFF"/>
                </a:solidFill>
                <a:latin typeface="Bricolage Grotesque Medium"/>
                <a:ea typeface="Bricolage Grotesque Medium"/>
                <a:cs typeface="Bricolage Grotesque Medium"/>
                <a:sym typeface="Bricolage Grotesque Medium"/>
              </a:rPr>
              <a:t>ODUCTION</a:t>
            </a:r>
          </a:p>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SYSTEM REQUIREMENTS</a:t>
            </a:r>
          </a:p>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ARCHITECTURE</a:t>
            </a:r>
          </a:p>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USES OF DATA ANALYSIS LIBRARY</a:t>
            </a:r>
          </a:p>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ADVANTAGES</a:t>
            </a:r>
          </a:p>
          <a:p>
            <a:pPr algn="l" marL="971550" indent="-485775" lvl="1">
              <a:lnSpc>
                <a:spcPts val="7920"/>
              </a:lnSpc>
              <a:buFont typeface="Arial"/>
              <a:buChar char="•"/>
            </a:pPr>
            <a:r>
              <a:rPr lang="en-US" b="true" sz="4500" spc="-94">
                <a:solidFill>
                  <a:srgbClr val="FFFFFF"/>
                </a:solidFill>
                <a:latin typeface="Bricolage Grotesque Medium"/>
                <a:ea typeface="Bricolage Grotesque Medium"/>
                <a:cs typeface="Bricolage Grotesque Medium"/>
                <a:sym typeface="Bricolage Grotesque Medium"/>
              </a:rPr>
              <a:t>CONCLUSION</a:t>
            </a:r>
          </a:p>
          <a:p>
            <a:pPr algn="l">
              <a:lnSpc>
                <a:spcPts val="7920"/>
              </a:lnSpc>
            </a:pPr>
          </a:p>
        </p:txBody>
      </p:sp>
      <p:grpSp>
        <p:nvGrpSpPr>
          <p:cNvPr name="Group 4" id="4"/>
          <p:cNvGrpSpPr/>
          <p:nvPr/>
        </p:nvGrpSpPr>
        <p:grpSpPr>
          <a:xfrm rot="0">
            <a:off x="12287582" y="3630930"/>
            <a:ext cx="4535704" cy="4525738"/>
            <a:chOff x="0" y="0"/>
            <a:chExt cx="761265" cy="759593"/>
          </a:xfrm>
        </p:grpSpPr>
        <p:sp>
          <p:nvSpPr>
            <p:cNvPr name="Freeform 5" id="5"/>
            <p:cNvSpPr/>
            <p:nvPr/>
          </p:nvSpPr>
          <p:spPr>
            <a:xfrm flipH="false" flipV="false" rot="0">
              <a:off x="0" y="0"/>
              <a:ext cx="761265" cy="759593"/>
            </a:xfrm>
            <a:custGeom>
              <a:avLst/>
              <a:gdLst/>
              <a:ahLst/>
              <a:cxnLst/>
              <a:rect r="r" b="b" t="t" l="l"/>
              <a:pathLst>
                <a:path h="759593" w="761265">
                  <a:moveTo>
                    <a:pt x="0" y="0"/>
                  </a:moveTo>
                  <a:lnTo>
                    <a:pt x="761265" y="0"/>
                  </a:lnTo>
                  <a:lnTo>
                    <a:pt x="761265" y="759593"/>
                  </a:lnTo>
                  <a:lnTo>
                    <a:pt x="0" y="759593"/>
                  </a:lnTo>
                  <a:close/>
                </a:path>
              </a:pathLst>
            </a:custGeom>
            <a:blipFill>
              <a:blip r:embed="rId2"/>
              <a:stretch>
                <a:fillRect l="-24882" t="0" r="-24882" b="0"/>
              </a:stretch>
            </a:blipFill>
          </p:spPr>
        </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955152" y="39460"/>
            <a:ext cx="4806064" cy="1295400"/>
          </a:xfrm>
          <a:prstGeom prst="rect">
            <a:avLst/>
          </a:prstGeom>
        </p:spPr>
        <p:txBody>
          <a:bodyPr anchor="t" rtlCol="false" tIns="0" lIns="0" bIns="0" rIns="0">
            <a:spAutoFit/>
          </a:bodyPr>
          <a:lstStyle/>
          <a:p>
            <a:pPr algn="ctr">
              <a:lnSpc>
                <a:spcPts val="10500"/>
              </a:lnSpc>
              <a:spcBef>
                <a:spcPct val="0"/>
              </a:spcBef>
            </a:pPr>
            <a:r>
              <a:rPr lang="en-US" b="true" sz="7500" spc="-397" u="sng">
                <a:solidFill>
                  <a:srgbClr val="FFFFFF"/>
                </a:solidFill>
                <a:latin typeface="Bricolage Grotesque Medium"/>
                <a:ea typeface="Bricolage Grotesque Medium"/>
                <a:cs typeface="Bricolage Grotesque Medium"/>
                <a:sym typeface="Bricolage Grotesque Medium"/>
              </a:rPr>
              <a:t>ABSTRACT</a:t>
            </a:r>
          </a:p>
        </p:txBody>
      </p:sp>
      <p:sp>
        <p:nvSpPr>
          <p:cNvPr name="TextBox 3" id="3"/>
          <p:cNvSpPr txBox="true"/>
          <p:nvPr/>
        </p:nvSpPr>
        <p:spPr>
          <a:xfrm rot="0">
            <a:off x="940964" y="981075"/>
            <a:ext cx="16406072" cy="7555989"/>
          </a:xfrm>
          <a:prstGeom prst="rect">
            <a:avLst/>
          </a:prstGeom>
        </p:spPr>
        <p:txBody>
          <a:bodyPr anchor="t" rtlCol="false" tIns="0" lIns="0" bIns="0" rIns="0">
            <a:spAutoFit/>
          </a:bodyPr>
          <a:lstStyle/>
          <a:p>
            <a:pPr algn="ctr">
              <a:lnSpc>
                <a:spcPts val="3558"/>
              </a:lnSpc>
            </a:pPr>
          </a:p>
          <a:p>
            <a:pPr algn="ctr">
              <a:lnSpc>
                <a:spcPts val="3558"/>
              </a:lnSpc>
            </a:pPr>
          </a:p>
          <a:p>
            <a:pPr algn="ctr" marL="548809" indent="-274405" lvl="1">
              <a:lnSpc>
                <a:spcPts val="3558"/>
              </a:lnSpc>
              <a:buFont typeface="Arial"/>
              <a:buChar char="•"/>
            </a:pPr>
            <a:r>
              <a:rPr lang="en-US" sz="2541" spc="-134">
                <a:solidFill>
                  <a:srgbClr val="FFFFFF"/>
                </a:solidFill>
                <a:latin typeface="Helvetica World"/>
                <a:ea typeface="Helvetica World"/>
                <a:cs typeface="Helvetica World"/>
                <a:sym typeface="Helvetica World"/>
              </a:rPr>
              <a:t>This project, titled " AI  Job Market Analysis ", aims to explore the current and future job opportunities in Artificial Intelligence (AI) and Machine Learning (ML) for the year 2025.</a:t>
            </a:r>
          </a:p>
          <a:p>
            <a:pPr algn="ctr">
              <a:lnSpc>
                <a:spcPts val="3558"/>
              </a:lnSpc>
            </a:pPr>
          </a:p>
          <a:p>
            <a:pPr algn="ctr" marL="548809" indent="-274405" lvl="1">
              <a:lnSpc>
                <a:spcPts val="3558"/>
              </a:lnSpc>
              <a:buFont typeface="Arial"/>
              <a:buChar char="•"/>
            </a:pPr>
            <a:r>
              <a:rPr lang="en-US" sz="2541" spc="-134">
                <a:solidFill>
                  <a:srgbClr val="FFFFFF"/>
                </a:solidFill>
                <a:latin typeface="Helvetica World"/>
                <a:ea typeface="Helvetica World"/>
                <a:cs typeface="Helvetica World"/>
                <a:sym typeface="Helvetica World"/>
              </a:rPr>
              <a:t>The main objective is to analyze which field—AI or ML—offers better career prospects, what skills are most important to get hired, and how salaries vary across countries and job roles. Data was collected from global job portals, industry reports, and salary databases.</a:t>
            </a:r>
          </a:p>
          <a:p>
            <a:pPr algn="ctr">
              <a:lnSpc>
                <a:spcPts val="3558"/>
              </a:lnSpc>
            </a:pPr>
          </a:p>
          <a:p>
            <a:pPr algn="ctr" marL="548809" indent="-274405" lvl="1">
              <a:lnSpc>
                <a:spcPts val="3558"/>
              </a:lnSpc>
              <a:buFont typeface="Arial"/>
              <a:buChar char="•"/>
            </a:pPr>
            <a:r>
              <a:rPr lang="en-US" sz="2541" spc="-134">
                <a:solidFill>
                  <a:srgbClr val="FFFFFF"/>
                </a:solidFill>
                <a:latin typeface="Helvetica World"/>
                <a:ea typeface="Helvetica World"/>
                <a:cs typeface="Helvetica World"/>
                <a:sym typeface="Helvetica World"/>
              </a:rPr>
              <a:t>Using Python, along with libraries such as Pandas, Matplotlib, and Seaborn, the project performs data cleaning, visualizati</a:t>
            </a:r>
            <a:r>
              <a:rPr lang="en-US" sz="2541" spc="-134">
                <a:solidFill>
                  <a:srgbClr val="FFFFFF"/>
                </a:solidFill>
                <a:latin typeface="Helvetica World"/>
                <a:ea typeface="Helvetica World"/>
                <a:cs typeface="Helvetica World"/>
                <a:sym typeface="Helvetica World"/>
              </a:rPr>
              <a:t>on, and trend analysis. The results highlight that skills like LLMs (Large Language Models), MLOps, Deep Learning, and NLP are in high demand. ML Engineers and AI Specialists are among the highest-paid professionals, particularly in the United States, with rapidly growing opportunities in India and the UAE.</a:t>
            </a:r>
          </a:p>
          <a:p>
            <a:pPr algn="ctr">
              <a:lnSpc>
                <a:spcPts val="3558"/>
              </a:lnSpc>
            </a:pPr>
          </a:p>
          <a:p>
            <a:pPr algn="ctr" marL="548809" indent="-274405" lvl="1">
              <a:lnSpc>
                <a:spcPts val="3558"/>
              </a:lnSpc>
              <a:buFont typeface="Arial"/>
              <a:buChar char="•"/>
            </a:pPr>
            <a:r>
              <a:rPr lang="en-US" sz="2541" spc="-134">
                <a:solidFill>
                  <a:srgbClr val="FFFFFF"/>
                </a:solidFill>
                <a:latin typeface="Helvetica World"/>
                <a:ea typeface="Helvetica World"/>
                <a:cs typeface="Helvetica World"/>
                <a:sym typeface="Helvetica World"/>
              </a:rPr>
              <a:t>This study provides clear insights for students, professionals, and job seekers to focus on the right skill sets and prepare for the evolving AI/ML job market in 2025. The project can be extended in the future to forecast job and salary trends beyond 2025 using predictive models.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3760259" y="5299663"/>
            <a:ext cx="7309935" cy="4550550"/>
            <a:chOff x="0" y="0"/>
            <a:chExt cx="1132500" cy="704999"/>
          </a:xfrm>
        </p:grpSpPr>
        <p:sp>
          <p:nvSpPr>
            <p:cNvPr name="Freeform 3" id="3"/>
            <p:cNvSpPr/>
            <p:nvPr/>
          </p:nvSpPr>
          <p:spPr>
            <a:xfrm flipH="false" flipV="false" rot="0">
              <a:off x="0" y="0"/>
              <a:ext cx="1132500" cy="704999"/>
            </a:xfrm>
            <a:custGeom>
              <a:avLst/>
              <a:gdLst/>
              <a:ahLst/>
              <a:cxnLst/>
              <a:rect r="r" b="b" t="t" l="l"/>
              <a:pathLst>
                <a:path h="704999" w="1132500">
                  <a:moveTo>
                    <a:pt x="0" y="0"/>
                  </a:moveTo>
                  <a:lnTo>
                    <a:pt x="1132500" y="0"/>
                  </a:lnTo>
                  <a:lnTo>
                    <a:pt x="1132500" y="704999"/>
                  </a:lnTo>
                  <a:lnTo>
                    <a:pt x="0" y="704999"/>
                  </a:lnTo>
                  <a:close/>
                </a:path>
              </a:pathLst>
            </a:custGeom>
            <a:blipFill>
              <a:blip r:embed="rId2"/>
              <a:stretch>
                <a:fillRect l="-5334" t="0" r="-5334" b="0"/>
              </a:stretch>
            </a:blipFill>
          </p:spPr>
        </p:sp>
      </p:grpSp>
      <p:sp>
        <p:nvSpPr>
          <p:cNvPr name="TextBox 4" id="4"/>
          <p:cNvSpPr txBox="true"/>
          <p:nvPr/>
        </p:nvSpPr>
        <p:spPr>
          <a:xfrm rot="0">
            <a:off x="5282941" y="1811692"/>
            <a:ext cx="7477189" cy="955676"/>
          </a:xfrm>
          <a:prstGeom prst="rect">
            <a:avLst/>
          </a:prstGeom>
        </p:spPr>
        <p:txBody>
          <a:bodyPr anchor="t" rtlCol="false" tIns="0" lIns="0" bIns="0" rIns="0">
            <a:spAutoFit/>
          </a:bodyPr>
          <a:lstStyle/>
          <a:p>
            <a:pPr algn="l">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INTRODUCTION</a:t>
            </a:r>
          </a:p>
        </p:txBody>
      </p:sp>
      <p:sp>
        <p:nvSpPr>
          <p:cNvPr name="TextBox 5" id="5"/>
          <p:cNvSpPr txBox="true"/>
          <p:nvPr/>
        </p:nvSpPr>
        <p:spPr>
          <a:xfrm rot="0">
            <a:off x="292168" y="3759755"/>
            <a:ext cx="17703664" cy="4321175"/>
          </a:xfrm>
          <a:prstGeom prst="rect">
            <a:avLst/>
          </a:prstGeom>
        </p:spPr>
        <p:txBody>
          <a:bodyPr anchor="t" rtlCol="false" tIns="0" lIns="0" bIns="0" rIns="0">
            <a:spAutoFit/>
          </a:bodyPr>
          <a:lstStyle/>
          <a:p>
            <a:pPr algn="l">
              <a:lnSpc>
                <a:spcPts val="4900"/>
              </a:lnSpc>
              <a:spcBef>
                <a:spcPct val="0"/>
              </a:spcBef>
            </a:pPr>
            <a:r>
              <a:rPr lang="en-US" b="true" sz="3500" spc="-185">
                <a:solidFill>
                  <a:srgbClr val="FFFFFF"/>
                </a:solidFill>
                <a:latin typeface="Bricolage Grotesque Medium"/>
                <a:ea typeface="Bricolage Grotesque Medium"/>
                <a:cs typeface="Bricolage Grotesque Medium"/>
                <a:sym typeface="Bricolage Grotesque Medium"/>
              </a:rPr>
              <a:t>With AI roles expanding gl</a:t>
            </a:r>
            <a:r>
              <a:rPr lang="en-US" b="true" sz="3500" spc="-185">
                <a:solidFill>
                  <a:srgbClr val="FFFFFF"/>
                </a:solidFill>
                <a:latin typeface="Bricolage Grotesque Medium"/>
                <a:ea typeface="Bricolage Grotesque Medium"/>
                <a:cs typeface="Bricolage Grotesque Medium"/>
                <a:sym typeface="Bricolage Grotesque Medium"/>
              </a:rPr>
              <a:t>obally, salary benchmarking and skills assessment become essential.</a:t>
            </a:r>
          </a:p>
          <a:p>
            <a:pPr algn="l">
              <a:lnSpc>
                <a:spcPts val="4900"/>
              </a:lnSpc>
              <a:spcBef>
                <a:spcPct val="0"/>
              </a:spcBef>
            </a:pPr>
            <a:r>
              <a:rPr lang="en-US" b="true" sz="3500" spc="-185">
                <a:solidFill>
                  <a:srgbClr val="FFFFFF"/>
                </a:solidFill>
                <a:latin typeface="Bricolage Grotesque Medium"/>
                <a:ea typeface="Bricolage Grotesque Medium"/>
                <a:cs typeface="Bricolage Grotesque Medium"/>
                <a:sym typeface="Bricolage Grotesque Medium"/>
              </a:rPr>
              <a:t> This study focuses on:</a:t>
            </a:r>
          </a:p>
          <a:p>
            <a:pPr algn="l" marL="755651" indent="-377825" lvl="1">
              <a:lnSpc>
                <a:spcPts val="4900"/>
              </a:lnSpc>
              <a:spcBef>
                <a:spcPct val="0"/>
              </a:spcBef>
              <a:buFont typeface="Arial"/>
              <a:buChar char="•"/>
            </a:pPr>
            <a:r>
              <a:rPr lang="en-US" b="true" sz="3500" spc="-185">
                <a:solidFill>
                  <a:srgbClr val="FFFFFF"/>
                </a:solidFill>
                <a:latin typeface="Bricolage Grotesque Medium"/>
                <a:ea typeface="Bricolage Grotesque Medium"/>
                <a:cs typeface="Bricolage Grotesque Medium"/>
                <a:sym typeface="Bricolage Grotesque Medium"/>
              </a:rPr>
              <a:t>Identifying top-paying job roles and industries</a:t>
            </a:r>
          </a:p>
          <a:p>
            <a:pPr algn="l" marL="755651" indent="-377825" lvl="1">
              <a:lnSpc>
                <a:spcPts val="4900"/>
              </a:lnSpc>
              <a:spcBef>
                <a:spcPct val="0"/>
              </a:spcBef>
              <a:buFont typeface="Arial"/>
              <a:buChar char="•"/>
            </a:pPr>
            <a:r>
              <a:rPr lang="en-US" b="true" sz="3500" spc="-185">
                <a:solidFill>
                  <a:srgbClr val="FFFFFF"/>
                </a:solidFill>
                <a:latin typeface="Bricolage Grotesque Medium"/>
                <a:ea typeface="Bricolage Grotesque Medium"/>
                <a:cs typeface="Bricolage Grotesque Medium"/>
                <a:sym typeface="Bricolage Grotesque Medium"/>
              </a:rPr>
              <a:t>Skill demand across sectors</a:t>
            </a:r>
          </a:p>
          <a:p>
            <a:pPr algn="l" marL="755651" indent="-377825" lvl="1">
              <a:lnSpc>
                <a:spcPts val="4900"/>
              </a:lnSpc>
              <a:spcBef>
                <a:spcPct val="0"/>
              </a:spcBef>
              <a:buFont typeface="Arial"/>
              <a:buChar char="•"/>
            </a:pPr>
            <a:r>
              <a:rPr lang="en-US" b="true" sz="3500" spc="-185">
                <a:solidFill>
                  <a:srgbClr val="FFFFFF"/>
                </a:solidFill>
                <a:latin typeface="Bricolage Grotesque Medium"/>
                <a:ea typeface="Bricolage Grotesque Medium"/>
                <a:cs typeface="Bricolage Grotesque Medium"/>
                <a:sym typeface="Bricolage Grotesque Medium"/>
              </a:rPr>
              <a:t>Salary variation by experience, employment type, and remote work</a:t>
            </a:r>
          </a:p>
          <a:p>
            <a:pPr algn="l" marL="755651" indent="-377825" lvl="1">
              <a:lnSpc>
                <a:spcPts val="4900"/>
              </a:lnSpc>
              <a:spcBef>
                <a:spcPct val="0"/>
              </a:spcBef>
              <a:buFont typeface="Arial"/>
              <a:buChar char="•"/>
            </a:pPr>
            <a:r>
              <a:rPr lang="en-US" b="true" sz="3500" spc="-185">
                <a:solidFill>
                  <a:srgbClr val="FFFFFF"/>
                </a:solidFill>
                <a:latin typeface="Bricolage Grotesque Medium"/>
                <a:ea typeface="Bricolage Grotesque Medium"/>
                <a:cs typeface="Bricolage Grotesque Medium"/>
                <a:sym typeface="Bricolage Grotesque Medium"/>
              </a:rPr>
              <a:t>Geographical impact on compensation</a:t>
            </a:r>
          </a:p>
          <a:p>
            <a:pPr algn="l">
              <a:lnSpc>
                <a:spcPts val="4900"/>
              </a:lnSpc>
              <a:spcBef>
                <a:spcPct val="0"/>
              </a:spcBef>
            </a:pPr>
          </a:p>
        </p:txBody>
      </p:sp>
      <p:sp>
        <p:nvSpPr>
          <p:cNvPr name="Freeform 6" id="6"/>
          <p:cNvSpPr/>
          <p:nvPr/>
        </p:nvSpPr>
        <p:spPr>
          <a:xfrm flipH="false" flipV="false" rot="5400000">
            <a:off x="-142876" y="0"/>
            <a:ext cx="3416302" cy="3416302"/>
          </a:xfrm>
          <a:custGeom>
            <a:avLst/>
            <a:gdLst/>
            <a:ahLst/>
            <a:cxnLst/>
            <a:rect r="r" b="b" t="t" l="l"/>
            <a:pathLst>
              <a:path h="3416302" w="3416302">
                <a:moveTo>
                  <a:pt x="0" y="0"/>
                </a:moveTo>
                <a:lnTo>
                  <a:pt x="3416302" y="0"/>
                </a:lnTo>
                <a:lnTo>
                  <a:pt x="3416302" y="3416302"/>
                </a:lnTo>
                <a:lnTo>
                  <a:pt x="0" y="3416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5400000">
            <a:off x="14769905" y="0"/>
            <a:ext cx="3416302" cy="3416302"/>
          </a:xfrm>
          <a:custGeom>
            <a:avLst/>
            <a:gdLst/>
            <a:ahLst/>
            <a:cxnLst/>
            <a:rect r="r" b="b" t="t" l="l"/>
            <a:pathLst>
              <a:path h="3416302" w="3416302">
                <a:moveTo>
                  <a:pt x="0" y="3416302"/>
                </a:moveTo>
                <a:lnTo>
                  <a:pt x="3416301" y="3416302"/>
                </a:lnTo>
                <a:lnTo>
                  <a:pt x="3416301" y="0"/>
                </a:lnTo>
                <a:lnTo>
                  <a:pt x="0" y="0"/>
                </a:lnTo>
                <a:lnTo>
                  <a:pt x="0" y="3416302"/>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091240" y="719129"/>
            <a:ext cx="10713801" cy="989022"/>
          </a:xfrm>
          <a:prstGeom prst="rect">
            <a:avLst/>
          </a:prstGeom>
        </p:spPr>
        <p:txBody>
          <a:bodyPr anchor="t" rtlCol="false" tIns="0" lIns="0" bIns="0" rIns="0">
            <a:spAutoFit/>
          </a:bodyPr>
          <a:lstStyle/>
          <a:p>
            <a:pPr algn="l">
              <a:lnSpc>
                <a:spcPts val="5799"/>
              </a:lnSpc>
            </a:pPr>
            <a:r>
              <a:rPr lang="en-US" sz="6823">
                <a:solidFill>
                  <a:srgbClr val="FFFBF7"/>
                </a:solidFill>
                <a:latin typeface="Agrandir"/>
                <a:ea typeface="Agrandir"/>
                <a:cs typeface="Agrandir"/>
                <a:sym typeface="Agrandir"/>
              </a:rPr>
              <a:t>system requirements</a:t>
            </a:r>
          </a:p>
        </p:txBody>
      </p:sp>
      <p:sp>
        <p:nvSpPr>
          <p:cNvPr name="TextBox 3" id="3"/>
          <p:cNvSpPr txBox="true"/>
          <p:nvPr/>
        </p:nvSpPr>
        <p:spPr>
          <a:xfrm rot="0">
            <a:off x="2648088" y="2862977"/>
            <a:ext cx="10830441" cy="809662"/>
          </a:xfrm>
          <a:prstGeom prst="rect">
            <a:avLst/>
          </a:prstGeom>
        </p:spPr>
        <p:txBody>
          <a:bodyPr anchor="t" rtlCol="false" tIns="0" lIns="0" bIns="0" rIns="0">
            <a:spAutoFit/>
          </a:bodyPr>
          <a:lstStyle/>
          <a:p>
            <a:pPr algn="l">
              <a:lnSpc>
                <a:spcPts val="6299"/>
              </a:lnSpc>
            </a:pPr>
            <a:r>
              <a:rPr lang="en-US" sz="4500">
                <a:solidFill>
                  <a:srgbClr val="FFFBF7"/>
                </a:solidFill>
                <a:latin typeface="Poppins"/>
                <a:ea typeface="Poppins"/>
                <a:cs typeface="Poppins"/>
                <a:sym typeface="Poppins"/>
              </a:rPr>
              <a:t>SOFTWARE</a:t>
            </a:r>
          </a:p>
        </p:txBody>
      </p:sp>
      <p:sp>
        <p:nvSpPr>
          <p:cNvPr name="TextBox 4" id="4"/>
          <p:cNvSpPr txBox="true"/>
          <p:nvPr/>
        </p:nvSpPr>
        <p:spPr>
          <a:xfrm rot="0">
            <a:off x="10448141" y="2762252"/>
            <a:ext cx="4594917" cy="809662"/>
          </a:xfrm>
          <a:prstGeom prst="rect">
            <a:avLst/>
          </a:prstGeom>
        </p:spPr>
        <p:txBody>
          <a:bodyPr anchor="t" rtlCol="false" tIns="0" lIns="0" bIns="0" rIns="0">
            <a:spAutoFit/>
          </a:bodyPr>
          <a:lstStyle/>
          <a:p>
            <a:pPr algn="l">
              <a:lnSpc>
                <a:spcPts val="6299"/>
              </a:lnSpc>
            </a:pPr>
            <a:r>
              <a:rPr lang="en-US" sz="4500">
                <a:solidFill>
                  <a:srgbClr val="FFFBF7"/>
                </a:solidFill>
                <a:latin typeface="Poppins"/>
                <a:ea typeface="Poppins"/>
                <a:cs typeface="Poppins"/>
                <a:sym typeface="Poppins"/>
              </a:rPr>
              <a:t>HARDWARE </a:t>
            </a:r>
          </a:p>
        </p:txBody>
      </p:sp>
      <p:sp>
        <p:nvSpPr>
          <p:cNvPr name="AutoShape 5" id="5"/>
          <p:cNvSpPr/>
          <p:nvPr/>
        </p:nvSpPr>
        <p:spPr>
          <a:xfrm flipH="true">
            <a:off x="9144000" y="2724953"/>
            <a:ext cx="4762" cy="6916945"/>
          </a:xfrm>
          <a:prstGeom prst="line">
            <a:avLst/>
          </a:prstGeom>
          <a:ln cap="flat" w="9525">
            <a:solidFill>
              <a:srgbClr val="FFFFFF"/>
            </a:solidFill>
            <a:prstDash val="solid"/>
            <a:headEnd type="none" len="sm" w="sm"/>
            <a:tailEnd type="none" len="sm" w="sm"/>
          </a:ln>
        </p:spPr>
      </p:sp>
      <p:sp>
        <p:nvSpPr>
          <p:cNvPr name="TextBox 6" id="6"/>
          <p:cNvSpPr txBox="true"/>
          <p:nvPr/>
        </p:nvSpPr>
        <p:spPr>
          <a:xfrm rot="0">
            <a:off x="1028700" y="4865999"/>
            <a:ext cx="7987419" cy="3203515"/>
          </a:xfrm>
          <a:prstGeom prst="rect">
            <a:avLst/>
          </a:prstGeom>
        </p:spPr>
        <p:txBody>
          <a:bodyPr anchor="t" rtlCol="false" tIns="0" lIns="0" bIns="0" rIns="0">
            <a:spAutoFit/>
          </a:bodyPr>
          <a:lstStyle/>
          <a:p>
            <a:pPr algn="just" marL="779988" indent="-389994" lvl="1">
              <a:lnSpc>
                <a:spcPts val="5057"/>
              </a:lnSpc>
              <a:buFont typeface="Arial"/>
              <a:buChar char="•"/>
            </a:pPr>
            <a:r>
              <a:rPr lang="en-US" sz="3612">
                <a:solidFill>
                  <a:srgbClr val="FFFBF7"/>
                </a:solidFill>
                <a:latin typeface="Poppins"/>
                <a:ea typeface="Poppins"/>
                <a:cs typeface="Poppins"/>
                <a:sym typeface="Poppins"/>
              </a:rPr>
              <a:t> Python 3.x</a:t>
            </a:r>
          </a:p>
          <a:p>
            <a:pPr algn="just" marL="779988" indent="-389994" lvl="1">
              <a:lnSpc>
                <a:spcPts val="5057"/>
              </a:lnSpc>
              <a:buFont typeface="Arial"/>
              <a:buChar char="•"/>
            </a:pPr>
            <a:r>
              <a:rPr lang="en-US" sz="3612">
                <a:solidFill>
                  <a:srgbClr val="FFFBF7"/>
                </a:solidFill>
                <a:latin typeface="Poppins"/>
                <a:ea typeface="Poppins"/>
                <a:cs typeface="Poppins"/>
                <a:sym typeface="Poppins"/>
              </a:rPr>
              <a:t>Pandas: pip install pandas</a:t>
            </a:r>
          </a:p>
          <a:p>
            <a:pPr algn="just" marL="779988" indent="-389994" lvl="1">
              <a:lnSpc>
                <a:spcPts val="5057"/>
              </a:lnSpc>
              <a:buFont typeface="Arial"/>
              <a:buChar char="•"/>
            </a:pPr>
            <a:r>
              <a:rPr lang="en-US" sz="3612">
                <a:solidFill>
                  <a:srgbClr val="FFFBF7"/>
                </a:solidFill>
                <a:latin typeface="Poppins"/>
                <a:ea typeface="Poppins"/>
                <a:cs typeface="Poppins"/>
                <a:sym typeface="Poppins"/>
              </a:rPr>
              <a:t>Matplotlib: pip install matplotlib</a:t>
            </a:r>
          </a:p>
          <a:p>
            <a:pPr algn="just" marL="779988" indent="-389994" lvl="1">
              <a:lnSpc>
                <a:spcPts val="5057"/>
              </a:lnSpc>
              <a:buFont typeface="Arial"/>
              <a:buChar char="•"/>
            </a:pPr>
            <a:r>
              <a:rPr lang="en-US" sz="3612">
                <a:solidFill>
                  <a:srgbClr val="FFFBF7"/>
                </a:solidFill>
                <a:latin typeface="Poppins"/>
                <a:ea typeface="Poppins"/>
                <a:cs typeface="Poppins"/>
                <a:sym typeface="Poppins"/>
              </a:rPr>
              <a:t>Seaborn: pip install seaborn</a:t>
            </a:r>
          </a:p>
          <a:p>
            <a:pPr algn="just" marL="779988" indent="-389994" lvl="1">
              <a:lnSpc>
                <a:spcPts val="5057"/>
              </a:lnSpc>
              <a:buFont typeface="Arial"/>
              <a:buChar char="•"/>
            </a:pPr>
            <a:r>
              <a:rPr lang="en-US" sz="3612">
                <a:solidFill>
                  <a:srgbClr val="FFFBF7"/>
                </a:solidFill>
                <a:latin typeface="Poppins"/>
                <a:ea typeface="Poppins"/>
                <a:cs typeface="Poppins"/>
                <a:sym typeface="Poppins"/>
              </a:rPr>
              <a:t>Jupyter Notebook / VSCode</a:t>
            </a:r>
          </a:p>
        </p:txBody>
      </p:sp>
      <p:sp>
        <p:nvSpPr>
          <p:cNvPr name="TextBox 7" id="7"/>
          <p:cNvSpPr txBox="true"/>
          <p:nvPr/>
        </p:nvSpPr>
        <p:spPr>
          <a:xfrm rot="0">
            <a:off x="1028700" y="4157892"/>
            <a:ext cx="9962841" cy="651588"/>
          </a:xfrm>
          <a:prstGeom prst="rect">
            <a:avLst/>
          </a:prstGeom>
        </p:spPr>
        <p:txBody>
          <a:bodyPr anchor="t" rtlCol="false" tIns="0" lIns="0" bIns="0" rIns="0">
            <a:spAutoFit/>
          </a:bodyPr>
          <a:lstStyle/>
          <a:p>
            <a:pPr algn="l" marL="775941" indent="-387971" lvl="1">
              <a:lnSpc>
                <a:spcPts val="5031"/>
              </a:lnSpc>
              <a:buFont typeface="Arial"/>
              <a:buChar char="•"/>
            </a:pPr>
            <a:r>
              <a:rPr lang="en-US" sz="3593">
                <a:solidFill>
                  <a:srgbClr val="FFFBF7"/>
                </a:solidFill>
                <a:latin typeface="Poppins"/>
                <a:ea typeface="Poppins"/>
                <a:cs typeface="Poppins"/>
                <a:sym typeface="Poppins"/>
              </a:rPr>
              <a:t>Windows /Mac/Linux OS</a:t>
            </a:r>
          </a:p>
        </p:txBody>
      </p:sp>
      <p:sp>
        <p:nvSpPr>
          <p:cNvPr name="TextBox 8" id="8"/>
          <p:cNvSpPr txBox="true"/>
          <p:nvPr/>
        </p:nvSpPr>
        <p:spPr>
          <a:xfrm rot="0">
            <a:off x="9835878" y="4239498"/>
            <a:ext cx="6086885" cy="1872994"/>
          </a:xfrm>
          <a:prstGeom prst="rect">
            <a:avLst/>
          </a:prstGeom>
        </p:spPr>
        <p:txBody>
          <a:bodyPr anchor="t" rtlCol="false" tIns="0" lIns="0" bIns="0" rIns="0">
            <a:spAutoFit/>
          </a:bodyPr>
          <a:lstStyle/>
          <a:p>
            <a:pPr algn="l" marL="757827" indent="-378913" lvl="1">
              <a:lnSpc>
                <a:spcPts val="4914"/>
              </a:lnSpc>
              <a:buFont typeface="Arial"/>
              <a:buChar char="•"/>
            </a:pPr>
            <a:r>
              <a:rPr lang="en-US" sz="3510">
                <a:solidFill>
                  <a:srgbClr val="FFFBF7"/>
                </a:solidFill>
                <a:latin typeface="Poppins"/>
                <a:ea typeface="Poppins"/>
                <a:cs typeface="Poppins"/>
                <a:sym typeface="Poppins"/>
              </a:rPr>
              <a:t>Standard PC with sufficient RAM and</a:t>
            </a:r>
          </a:p>
          <a:p>
            <a:pPr algn="l">
              <a:lnSpc>
                <a:spcPts val="4914"/>
              </a:lnSpc>
            </a:pPr>
            <a:r>
              <a:rPr lang="en-US" sz="3510">
                <a:solidFill>
                  <a:srgbClr val="FFFBF7"/>
                </a:solidFill>
                <a:latin typeface="Poppins"/>
                <a:ea typeface="Poppins"/>
                <a:cs typeface="Poppins"/>
                <a:sym typeface="Poppins"/>
              </a:rPr>
              <a:t>       disk space</a:t>
            </a:r>
          </a:p>
        </p:txBody>
      </p:sp>
      <p:sp>
        <p:nvSpPr>
          <p:cNvPr name="Freeform 9" id="9"/>
          <p:cNvSpPr/>
          <p:nvPr/>
        </p:nvSpPr>
        <p:spPr>
          <a:xfrm flipH="false" flipV="true" rot="0">
            <a:off x="37200" y="0"/>
            <a:ext cx="5221776" cy="5368180"/>
          </a:xfrm>
          <a:custGeom>
            <a:avLst/>
            <a:gdLst/>
            <a:ahLst/>
            <a:cxnLst/>
            <a:rect r="r" b="b" t="t" l="l"/>
            <a:pathLst>
              <a:path h="5368180" w="5221776">
                <a:moveTo>
                  <a:pt x="0" y="5368180"/>
                </a:moveTo>
                <a:lnTo>
                  <a:pt x="5221776" y="5368180"/>
                </a:lnTo>
                <a:lnTo>
                  <a:pt x="5221776" y="0"/>
                </a:lnTo>
                <a:lnTo>
                  <a:pt x="0" y="0"/>
                </a:lnTo>
                <a:lnTo>
                  <a:pt x="0" y="536818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151478" y="5368180"/>
            <a:ext cx="4694139" cy="4694139"/>
          </a:xfrm>
          <a:custGeom>
            <a:avLst/>
            <a:gdLst/>
            <a:ahLst/>
            <a:cxnLst/>
            <a:rect r="r" b="b" t="t" l="l"/>
            <a:pathLst>
              <a:path h="4694139" w="4694139">
                <a:moveTo>
                  <a:pt x="0" y="4694140"/>
                </a:moveTo>
                <a:lnTo>
                  <a:pt x="4694139" y="4694140"/>
                </a:lnTo>
                <a:lnTo>
                  <a:pt x="4694139" y="0"/>
                </a:lnTo>
                <a:lnTo>
                  <a:pt x="0" y="0"/>
                </a:lnTo>
                <a:lnTo>
                  <a:pt x="0" y="4694140"/>
                </a:lnTo>
                <a:close/>
              </a:path>
            </a:pathLst>
          </a:custGeom>
          <a:blipFill>
            <a:blip r:embed="rId4"/>
            <a:stretch>
              <a:fillRect l="0" t="0" r="0" b="0"/>
            </a:stretch>
          </a:blipFill>
        </p:spPr>
      </p:sp>
      <p:sp>
        <p:nvSpPr>
          <p:cNvPr name="Freeform 11" id="11"/>
          <p:cNvSpPr/>
          <p:nvPr/>
        </p:nvSpPr>
        <p:spPr>
          <a:xfrm flipH="true" flipV="false" rot="0">
            <a:off x="13442383" y="224680"/>
            <a:ext cx="4694139" cy="4694139"/>
          </a:xfrm>
          <a:custGeom>
            <a:avLst/>
            <a:gdLst/>
            <a:ahLst/>
            <a:cxnLst/>
            <a:rect r="r" b="b" t="t" l="l"/>
            <a:pathLst>
              <a:path h="4694139" w="4694139">
                <a:moveTo>
                  <a:pt x="4694139" y="0"/>
                </a:moveTo>
                <a:lnTo>
                  <a:pt x="0" y="0"/>
                </a:lnTo>
                <a:lnTo>
                  <a:pt x="0" y="4694140"/>
                </a:lnTo>
                <a:lnTo>
                  <a:pt x="4694139" y="4694140"/>
                </a:lnTo>
                <a:lnTo>
                  <a:pt x="4694139" y="0"/>
                </a:lnTo>
                <a:close/>
              </a:path>
            </a:pathLst>
          </a:custGeom>
          <a:blipFill>
            <a:blip r:embed="rId4"/>
            <a:stretch>
              <a:fillRect l="0" t="0" r="0" b="0"/>
            </a:stretch>
          </a:blipFill>
        </p:spPr>
      </p:sp>
      <p:sp>
        <p:nvSpPr>
          <p:cNvPr name="Freeform 12" id="12"/>
          <p:cNvSpPr/>
          <p:nvPr/>
        </p:nvSpPr>
        <p:spPr>
          <a:xfrm flipH="false" flipV="false" rot="0">
            <a:off x="5813878" y="449561"/>
            <a:ext cx="7252346" cy="154112"/>
          </a:xfrm>
          <a:custGeom>
            <a:avLst/>
            <a:gdLst/>
            <a:ahLst/>
            <a:cxnLst/>
            <a:rect r="r" b="b" t="t" l="l"/>
            <a:pathLst>
              <a:path h="154112" w="7252346">
                <a:moveTo>
                  <a:pt x="0" y="0"/>
                </a:moveTo>
                <a:lnTo>
                  <a:pt x="7252346" y="0"/>
                </a:lnTo>
                <a:lnTo>
                  <a:pt x="7252346" y="154112"/>
                </a:lnTo>
                <a:lnTo>
                  <a:pt x="0" y="154112"/>
                </a:lnTo>
                <a:lnTo>
                  <a:pt x="0" y="0"/>
                </a:lnTo>
                <a:close/>
              </a:path>
            </a:pathLst>
          </a:custGeom>
          <a:blipFill>
            <a:blip r:embed="rId5"/>
            <a:stretch>
              <a:fillRect l="0" t="0" r="0" b="0"/>
            </a:stretch>
          </a:blipFill>
        </p:spPr>
      </p:sp>
      <p:sp>
        <p:nvSpPr>
          <p:cNvPr name="Freeform 13" id="13"/>
          <p:cNvSpPr/>
          <p:nvPr/>
        </p:nvSpPr>
        <p:spPr>
          <a:xfrm flipH="false" flipV="false" rot="0">
            <a:off x="5221776" y="9675326"/>
            <a:ext cx="7252346" cy="154112"/>
          </a:xfrm>
          <a:custGeom>
            <a:avLst/>
            <a:gdLst/>
            <a:ahLst/>
            <a:cxnLst/>
            <a:rect r="r" b="b" t="t" l="l"/>
            <a:pathLst>
              <a:path h="154112" w="7252346">
                <a:moveTo>
                  <a:pt x="0" y="0"/>
                </a:moveTo>
                <a:lnTo>
                  <a:pt x="7252346" y="0"/>
                </a:lnTo>
                <a:lnTo>
                  <a:pt x="7252346" y="154113"/>
                </a:lnTo>
                <a:lnTo>
                  <a:pt x="0" y="154113"/>
                </a:lnTo>
                <a:lnTo>
                  <a:pt x="0" y="0"/>
                </a:lnTo>
                <a:close/>
              </a:path>
            </a:pathLst>
          </a:custGeom>
          <a:blipFill>
            <a:blip r:embed="rId5"/>
            <a:stretch>
              <a:fillRect l="0" t="0" r="0" b="0"/>
            </a:stretch>
          </a:blipFill>
        </p:spPr>
      </p:sp>
      <p:sp>
        <p:nvSpPr>
          <p:cNvPr name="Freeform 14" id="14"/>
          <p:cNvSpPr/>
          <p:nvPr/>
        </p:nvSpPr>
        <p:spPr>
          <a:xfrm flipH="true" flipV="false" rot="0">
            <a:off x="13066224" y="4970774"/>
            <a:ext cx="5221776" cy="5368180"/>
          </a:xfrm>
          <a:custGeom>
            <a:avLst/>
            <a:gdLst/>
            <a:ahLst/>
            <a:cxnLst/>
            <a:rect r="r" b="b" t="t" l="l"/>
            <a:pathLst>
              <a:path h="5368180" w="5221776">
                <a:moveTo>
                  <a:pt x="5221776" y="0"/>
                </a:moveTo>
                <a:lnTo>
                  <a:pt x="0" y="0"/>
                </a:lnTo>
                <a:lnTo>
                  <a:pt x="0" y="5368181"/>
                </a:lnTo>
                <a:lnTo>
                  <a:pt x="5221776" y="5368181"/>
                </a:lnTo>
                <a:lnTo>
                  <a:pt x="52217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3844447" y="459707"/>
            <a:ext cx="10278954" cy="1714538"/>
          </a:xfrm>
          <a:prstGeom prst="rect">
            <a:avLst/>
          </a:prstGeom>
        </p:spPr>
        <p:txBody>
          <a:bodyPr anchor="t" rtlCol="false" tIns="0" lIns="0" bIns="0" rIns="0">
            <a:spAutoFit/>
          </a:bodyPr>
          <a:lstStyle/>
          <a:p>
            <a:pPr algn="ctr">
              <a:lnSpc>
                <a:spcPts val="5949"/>
              </a:lnSpc>
            </a:pPr>
            <a:r>
              <a:rPr lang="en-US" sz="6999" spc="-370">
                <a:solidFill>
                  <a:srgbClr val="FFFFFF"/>
                </a:solidFill>
                <a:latin typeface="Bricolage Grotesque"/>
                <a:ea typeface="Bricolage Grotesque"/>
                <a:cs typeface="Bricolage Grotesque"/>
                <a:sym typeface="Bricolage Grotesque"/>
              </a:rPr>
              <a:t>PROJECT ARCHITECTURE</a:t>
            </a:r>
          </a:p>
          <a:p>
            <a:pPr algn="ctr">
              <a:lnSpc>
                <a:spcPts val="6800"/>
              </a:lnSpc>
            </a:pPr>
          </a:p>
        </p:txBody>
      </p:sp>
      <p:sp>
        <p:nvSpPr>
          <p:cNvPr name="Freeform 3" id="3"/>
          <p:cNvSpPr/>
          <p:nvPr/>
        </p:nvSpPr>
        <p:spPr>
          <a:xfrm flipH="false" flipV="false" rot="5400000">
            <a:off x="151035" y="674"/>
            <a:ext cx="2975823" cy="2975823"/>
          </a:xfrm>
          <a:custGeom>
            <a:avLst/>
            <a:gdLst/>
            <a:ahLst/>
            <a:cxnLst/>
            <a:rect r="r" b="b" t="t" l="l"/>
            <a:pathLst>
              <a:path h="2975823" w="2975823">
                <a:moveTo>
                  <a:pt x="0" y="0"/>
                </a:moveTo>
                <a:lnTo>
                  <a:pt x="2975823" y="0"/>
                </a:lnTo>
                <a:lnTo>
                  <a:pt x="2975823" y="2975822"/>
                </a:lnTo>
                <a:lnTo>
                  <a:pt x="0" y="2975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5312177" y="23110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28700" y="1874897"/>
            <a:ext cx="17259300" cy="6924191"/>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spc="-159">
                <a:solidFill>
                  <a:srgbClr val="FFFFFF"/>
                </a:solidFill>
                <a:latin typeface="Bricolage Grotesque Medium"/>
                <a:ea typeface="Bricolage Grotesque Medium"/>
                <a:cs typeface="Bricolage Grotesque Medium"/>
                <a:sym typeface="Bricolage Grotesque Medium"/>
              </a:rPr>
              <a:t>The architecture of the “AI JOB MARKET ANALYSIS “ using Python, Matplotlib, and Pandas involves several key steps that form a cohesive workflow.</a:t>
            </a:r>
          </a:p>
          <a:p>
            <a:pPr algn="l">
              <a:lnSpc>
                <a:spcPts val="4200"/>
              </a:lnSpc>
            </a:pPr>
          </a:p>
          <a:p>
            <a:pPr algn="l" marL="647700" indent="-323850" lvl="1">
              <a:lnSpc>
                <a:spcPts val="4200"/>
              </a:lnSpc>
              <a:buFont typeface="Arial"/>
              <a:buChar char="•"/>
            </a:pPr>
            <a:r>
              <a:rPr lang="en-US" b="true" sz="3000" spc="-159">
                <a:solidFill>
                  <a:srgbClr val="FFFFFF"/>
                </a:solidFill>
                <a:latin typeface="Bricolage Grotesque Medium"/>
                <a:ea typeface="Bricolage Grotesque Medium"/>
                <a:cs typeface="Bricolage Grotesque Medium"/>
                <a:sym typeface="Bricolage Grotesque Medium"/>
              </a:rPr>
              <a:t> The process typically includes data acquisition, data preprocessing, data visualization.</a:t>
            </a:r>
          </a:p>
          <a:p>
            <a:pPr algn="l">
              <a:lnSpc>
                <a:spcPts val="4200"/>
              </a:lnSpc>
            </a:pPr>
          </a:p>
          <a:p>
            <a:pPr algn="l">
              <a:lnSpc>
                <a:spcPts val="4200"/>
              </a:lnSpc>
            </a:pPr>
            <a:r>
              <a:rPr lang="en-US" sz="3000" spc="-159" b="true">
                <a:solidFill>
                  <a:srgbClr val="FFFFFF"/>
                </a:solidFill>
                <a:latin typeface="Bricolage Grotesque Medium"/>
                <a:ea typeface="Bricolage Grotesque Medium"/>
                <a:cs typeface="Bricolage Grotesque Medium"/>
                <a:sym typeface="Bricolage Grotesque Medium"/>
              </a:rPr>
              <a:t>      </a:t>
            </a:r>
            <a:r>
              <a:rPr lang="en-US" sz="3000" spc="-159" b="true">
                <a:solidFill>
                  <a:srgbClr val="FFFFFF"/>
                </a:solidFill>
                <a:latin typeface="Bricolage Grotesque Medium"/>
                <a:ea typeface="Bricolage Grotesque Medium"/>
                <a:cs typeface="Bricolage Grotesque Medium"/>
                <a:sym typeface="Bricolage Grotesque Medium"/>
              </a:rPr>
              <a:t>Let's explore the architecture in more detail:</a:t>
            </a:r>
          </a:p>
          <a:p>
            <a:pPr algn="l">
              <a:lnSpc>
                <a:spcPts val="4200"/>
              </a:lnSpc>
            </a:pPr>
          </a:p>
          <a:p>
            <a:pPr algn="l" marL="647700" indent="-323850" lvl="1">
              <a:lnSpc>
                <a:spcPts val="4200"/>
              </a:lnSpc>
              <a:buAutoNum type="arabicPeriod" startAt="1"/>
            </a:pPr>
            <a:r>
              <a:rPr lang="en-US" b="true" sz="3000" spc="-159">
                <a:solidFill>
                  <a:srgbClr val="FFFFFF"/>
                </a:solidFill>
                <a:latin typeface="Bricolage Grotesque Medium"/>
                <a:ea typeface="Bricolage Grotesque Medium"/>
                <a:cs typeface="Bricolage Grotesque Medium"/>
                <a:sym typeface="Bricolage Grotesque Medium"/>
              </a:rPr>
              <a:t>IMPORTING DATASET</a:t>
            </a:r>
          </a:p>
          <a:p>
            <a:pPr algn="l" marL="647700" indent="-323850" lvl="1">
              <a:lnSpc>
                <a:spcPts val="4200"/>
              </a:lnSpc>
              <a:buAutoNum type="arabicPeriod" startAt="1"/>
            </a:pPr>
            <a:r>
              <a:rPr lang="en-US" b="true" sz="3000" spc="-159">
                <a:solidFill>
                  <a:srgbClr val="FFFFFF"/>
                </a:solidFill>
                <a:latin typeface="Bricolage Grotesque Medium"/>
                <a:ea typeface="Bricolage Grotesque Medium"/>
                <a:cs typeface="Bricolage Grotesque Medium"/>
                <a:sym typeface="Bricolage Grotesque Medium"/>
              </a:rPr>
              <a:t>DATA EXPLORATION</a:t>
            </a:r>
          </a:p>
          <a:p>
            <a:pPr algn="l" marL="647700" indent="-323850" lvl="1">
              <a:lnSpc>
                <a:spcPts val="4200"/>
              </a:lnSpc>
              <a:buAutoNum type="arabicPeriod" startAt="1"/>
            </a:pPr>
            <a:r>
              <a:rPr lang="en-US" b="true" sz="3000" spc="-159">
                <a:solidFill>
                  <a:srgbClr val="FFFFFF"/>
                </a:solidFill>
                <a:latin typeface="Bricolage Grotesque Medium"/>
                <a:ea typeface="Bricolage Grotesque Medium"/>
                <a:cs typeface="Bricolage Grotesque Medium"/>
                <a:sym typeface="Bricolage Grotesque Medium"/>
              </a:rPr>
              <a:t>DATA CLEANING</a:t>
            </a:r>
          </a:p>
          <a:p>
            <a:pPr algn="l" marL="647700" indent="-323850" lvl="1">
              <a:lnSpc>
                <a:spcPts val="4200"/>
              </a:lnSpc>
              <a:buAutoNum type="arabicPeriod" startAt="1"/>
            </a:pPr>
            <a:r>
              <a:rPr lang="en-US" b="true" sz="3000" spc="-159">
                <a:solidFill>
                  <a:srgbClr val="FFFFFF"/>
                </a:solidFill>
                <a:latin typeface="Bricolage Grotesque Medium"/>
                <a:ea typeface="Bricolage Grotesque Medium"/>
                <a:cs typeface="Bricolage Grotesque Medium"/>
                <a:sym typeface="Bricolage Grotesque Medium"/>
              </a:rPr>
              <a:t>DATA GROUPING</a:t>
            </a:r>
          </a:p>
          <a:p>
            <a:pPr algn="l" marL="647700" indent="-323850" lvl="1">
              <a:lnSpc>
                <a:spcPts val="4200"/>
              </a:lnSpc>
              <a:buAutoNum type="arabicPeriod" startAt="1"/>
            </a:pPr>
            <a:r>
              <a:rPr lang="en-US" b="true" sz="3000" spc="-159">
                <a:solidFill>
                  <a:srgbClr val="FFFFFF"/>
                </a:solidFill>
                <a:latin typeface="Bricolage Grotesque Medium"/>
                <a:ea typeface="Bricolage Grotesque Medium"/>
                <a:cs typeface="Bricolage Grotesque Medium"/>
                <a:sym typeface="Bricolage Grotesque Medium"/>
              </a:rPr>
              <a:t>DATA VISUALISATION</a:t>
            </a:r>
          </a:p>
          <a:p>
            <a:pPr algn="l">
              <a:lnSpc>
                <a:spcPts val="42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523922" y="6369498"/>
            <a:ext cx="8276167" cy="1883359"/>
          </a:xfrm>
          <a:custGeom>
            <a:avLst/>
            <a:gdLst/>
            <a:ahLst/>
            <a:cxnLst/>
            <a:rect r="r" b="b" t="t" l="l"/>
            <a:pathLst>
              <a:path h="1883359" w="8276167">
                <a:moveTo>
                  <a:pt x="0" y="0"/>
                </a:moveTo>
                <a:lnTo>
                  <a:pt x="8276167" y="0"/>
                </a:lnTo>
                <a:lnTo>
                  <a:pt x="8276167" y="1883358"/>
                </a:lnTo>
                <a:lnTo>
                  <a:pt x="0" y="1883358"/>
                </a:lnTo>
                <a:lnTo>
                  <a:pt x="0" y="0"/>
                </a:lnTo>
                <a:close/>
              </a:path>
            </a:pathLst>
          </a:custGeom>
          <a:blipFill>
            <a:blip r:embed="rId4"/>
            <a:stretch>
              <a:fillRect l="0" t="0" r="0" b="0"/>
            </a:stretch>
          </a:blipFill>
        </p:spPr>
      </p:sp>
      <p:sp>
        <p:nvSpPr>
          <p:cNvPr name="Freeform 7" id="7"/>
          <p:cNvSpPr/>
          <p:nvPr/>
        </p:nvSpPr>
        <p:spPr>
          <a:xfrm flipH="false" flipV="false" rot="0">
            <a:off x="1292005" y="6241666"/>
            <a:ext cx="6317300" cy="2756196"/>
          </a:xfrm>
          <a:custGeom>
            <a:avLst/>
            <a:gdLst/>
            <a:ahLst/>
            <a:cxnLst/>
            <a:rect r="r" b="b" t="t" l="l"/>
            <a:pathLst>
              <a:path h="2756196" w="6317300">
                <a:moveTo>
                  <a:pt x="0" y="0"/>
                </a:moveTo>
                <a:lnTo>
                  <a:pt x="6317299" y="0"/>
                </a:lnTo>
                <a:lnTo>
                  <a:pt x="6317299" y="2756196"/>
                </a:lnTo>
                <a:lnTo>
                  <a:pt x="0" y="2756196"/>
                </a:lnTo>
                <a:lnTo>
                  <a:pt x="0" y="0"/>
                </a:lnTo>
                <a:close/>
              </a:path>
            </a:pathLst>
          </a:custGeom>
          <a:blipFill>
            <a:blip r:embed="rId5"/>
            <a:stretch>
              <a:fillRect l="0" t="0" r="0" b="0"/>
            </a:stretch>
          </a:blipFill>
        </p:spPr>
      </p:sp>
      <p:sp>
        <p:nvSpPr>
          <p:cNvPr name="TextBox 8" id="8"/>
          <p:cNvSpPr txBox="true"/>
          <p:nvPr/>
        </p:nvSpPr>
        <p:spPr>
          <a:xfrm rot="0">
            <a:off x="4004523" y="378460"/>
            <a:ext cx="10278954" cy="955676"/>
          </a:xfrm>
          <a:prstGeom prst="rect">
            <a:avLst/>
          </a:prstGeom>
        </p:spPr>
        <p:txBody>
          <a:bodyPr anchor="t" rtlCol="false" tIns="0" lIns="0" bIns="0" rIns="0">
            <a:spAutoFit/>
          </a:bodyPr>
          <a:lstStyle/>
          <a:p>
            <a:pPr algn="ctr">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IMPORTING DATASET</a:t>
            </a:r>
          </a:p>
        </p:txBody>
      </p:sp>
      <p:sp>
        <p:nvSpPr>
          <p:cNvPr name="TextBox 9" id="9"/>
          <p:cNvSpPr txBox="true"/>
          <p:nvPr/>
        </p:nvSpPr>
        <p:spPr>
          <a:xfrm rot="0">
            <a:off x="408216" y="2142323"/>
            <a:ext cx="17879784" cy="2657289"/>
          </a:xfrm>
          <a:prstGeom prst="rect">
            <a:avLst/>
          </a:prstGeom>
        </p:spPr>
        <p:txBody>
          <a:bodyPr anchor="t" rtlCol="false" tIns="0" lIns="0" bIns="0" rIns="0">
            <a:spAutoFit/>
          </a:bodyPr>
          <a:lstStyle/>
          <a:p>
            <a:pPr algn="ctr" marL="647700" indent="-323850" lvl="1">
              <a:lnSpc>
                <a:spcPts val="4200"/>
              </a:lnSpc>
              <a:buFont typeface="Arial"/>
              <a:buChar char="•"/>
            </a:pPr>
            <a:r>
              <a:rPr lang="en-US" b="true" sz="3000" spc="-159">
                <a:solidFill>
                  <a:srgbClr val="FFFFFF"/>
                </a:solidFill>
                <a:latin typeface="Bricolage Grotesque Medium"/>
                <a:ea typeface="Bricolage Grotesque Medium"/>
                <a:cs typeface="Bricolage Grotesque Medium"/>
                <a:sym typeface="Bricolage Grotesque Medium"/>
              </a:rPr>
              <a:t>The project begins with data collection, where the AI Job Dataset is sourced from reliable repositories or research platforms.</a:t>
            </a:r>
          </a:p>
          <a:p>
            <a:pPr algn="ctr" marL="647700" indent="-323850" lvl="1">
              <a:lnSpc>
                <a:spcPts val="4200"/>
              </a:lnSpc>
              <a:buFont typeface="Arial"/>
              <a:buChar char="•"/>
            </a:pPr>
            <a:r>
              <a:rPr lang="en-US" b="true" sz="3000" spc="-159">
                <a:solidFill>
                  <a:srgbClr val="FFFFFF"/>
                </a:solidFill>
                <a:latin typeface="Bricolage Grotesque Medium"/>
                <a:ea typeface="Bricolage Grotesque Medium"/>
                <a:cs typeface="Bricolage Grotesque Medium"/>
                <a:sym typeface="Bricolage Grotesque Medium"/>
              </a:rPr>
              <a:t> The dataset is then loaded into the Python environment using the Pandas library, forming a structured DataFrame for efficient analysis.</a:t>
            </a:r>
          </a:p>
          <a:p>
            <a:pPr algn="ctr">
              <a:lnSpc>
                <a:spcPts val="4200"/>
              </a:lnSpc>
            </a:pPr>
          </a:p>
        </p:txBody>
      </p:sp>
      <p:sp>
        <p:nvSpPr>
          <p:cNvPr name="TextBox 10" id="10"/>
          <p:cNvSpPr txBox="true"/>
          <p:nvPr/>
        </p:nvSpPr>
        <p:spPr>
          <a:xfrm rot="0">
            <a:off x="1292005" y="5316532"/>
            <a:ext cx="3915482" cy="679487"/>
          </a:xfrm>
          <a:prstGeom prst="rect">
            <a:avLst/>
          </a:prstGeom>
        </p:spPr>
        <p:txBody>
          <a:bodyPr anchor="t" rtlCol="false" tIns="0" lIns="0" bIns="0" rIns="0">
            <a:spAutoFit/>
          </a:bodyPr>
          <a:lstStyle/>
          <a:p>
            <a:pPr algn="ctr">
              <a:lnSpc>
                <a:spcPts val="5599"/>
              </a:lnSpc>
              <a:spcBef>
                <a:spcPct val="0"/>
              </a:spcBef>
            </a:pPr>
            <a:r>
              <a:rPr lang="en-US" b="true" sz="3999" spc="-211">
                <a:solidFill>
                  <a:srgbClr val="FFFFFF"/>
                </a:solidFill>
                <a:latin typeface="Bricolage Grotesque Medium"/>
                <a:ea typeface="Bricolage Grotesque Medium"/>
                <a:cs typeface="Bricolage Grotesque Medium"/>
                <a:sym typeface="Bricolage Grotesque Medium"/>
              </a:rPr>
              <a:t>Importing libraries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961333" y="4000013"/>
            <a:ext cx="7297967" cy="3857427"/>
          </a:xfrm>
          <a:custGeom>
            <a:avLst/>
            <a:gdLst/>
            <a:ahLst/>
            <a:cxnLst/>
            <a:rect r="r" b="b" t="t" l="l"/>
            <a:pathLst>
              <a:path h="3857427" w="7297967">
                <a:moveTo>
                  <a:pt x="0" y="0"/>
                </a:moveTo>
                <a:lnTo>
                  <a:pt x="7297967" y="0"/>
                </a:lnTo>
                <a:lnTo>
                  <a:pt x="7297967" y="3857426"/>
                </a:lnTo>
                <a:lnTo>
                  <a:pt x="0" y="3857426"/>
                </a:lnTo>
                <a:lnTo>
                  <a:pt x="0" y="0"/>
                </a:lnTo>
                <a:close/>
              </a:path>
            </a:pathLst>
          </a:custGeom>
          <a:blipFill>
            <a:blip r:embed="rId4"/>
            <a:stretch>
              <a:fillRect l="-1391" t="0" r="-3768" b="0"/>
            </a:stretch>
          </a:blipFill>
        </p:spPr>
      </p:sp>
      <p:sp>
        <p:nvSpPr>
          <p:cNvPr name="Freeform 7" id="7"/>
          <p:cNvSpPr/>
          <p:nvPr/>
        </p:nvSpPr>
        <p:spPr>
          <a:xfrm flipH="false" flipV="false" rot="0">
            <a:off x="1855306" y="4216582"/>
            <a:ext cx="5841434" cy="1712144"/>
          </a:xfrm>
          <a:custGeom>
            <a:avLst/>
            <a:gdLst/>
            <a:ahLst/>
            <a:cxnLst/>
            <a:rect r="r" b="b" t="t" l="l"/>
            <a:pathLst>
              <a:path h="1712144" w="5841434">
                <a:moveTo>
                  <a:pt x="0" y="0"/>
                </a:moveTo>
                <a:lnTo>
                  <a:pt x="5841434" y="0"/>
                </a:lnTo>
                <a:lnTo>
                  <a:pt x="5841434" y="1712144"/>
                </a:lnTo>
                <a:lnTo>
                  <a:pt x="0" y="1712144"/>
                </a:lnTo>
                <a:lnTo>
                  <a:pt x="0" y="0"/>
                </a:lnTo>
                <a:close/>
              </a:path>
            </a:pathLst>
          </a:custGeom>
          <a:blipFill>
            <a:blip r:embed="rId5"/>
            <a:stretch>
              <a:fillRect l="0" t="0" r="0" b="0"/>
            </a:stretch>
          </a:blipFill>
        </p:spPr>
      </p:sp>
      <p:sp>
        <p:nvSpPr>
          <p:cNvPr name="Freeform 8" id="8"/>
          <p:cNvSpPr/>
          <p:nvPr/>
        </p:nvSpPr>
        <p:spPr>
          <a:xfrm flipH="false" flipV="false" rot="0">
            <a:off x="1028700" y="6352302"/>
            <a:ext cx="8800348" cy="2519758"/>
          </a:xfrm>
          <a:custGeom>
            <a:avLst/>
            <a:gdLst/>
            <a:ahLst/>
            <a:cxnLst/>
            <a:rect r="r" b="b" t="t" l="l"/>
            <a:pathLst>
              <a:path h="2519758" w="8800348">
                <a:moveTo>
                  <a:pt x="0" y="0"/>
                </a:moveTo>
                <a:lnTo>
                  <a:pt x="8800348" y="0"/>
                </a:lnTo>
                <a:lnTo>
                  <a:pt x="8800348" y="2519758"/>
                </a:lnTo>
                <a:lnTo>
                  <a:pt x="0" y="2519758"/>
                </a:lnTo>
                <a:lnTo>
                  <a:pt x="0" y="0"/>
                </a:lnTo>
                <a:close/>
              </a:path>
            </a:pathLst>
          </a:custGeom>
          <a:blipFill>
            <a:blip r:embed="rId6"/>
            <a:stretch>
              <a:fillRect l="0" t="0" r="0" b="0"/>
            </a:stretch>
          </a:blipFill>
        </p:spPr>
      </p:sp>
      <p:sp>
        <p:nvSpPr>
          <p:cNvPr name="TextBox 9" id="9"/>
          <p:cNvSpPr txBox="true"/>
          <p:nvPr/>
        </p:nvSpPr>
        <p:spPr>
          <a:xfrm rot="0">
            <a:off x="4004523" y="378460"/>
            <a:ext cx="10278954" cy="955676"/>
          </a:xfrm>
          <a:prstGeom prst="rect">
            <a:avLst/>
          </a:prstGeom>
        </p:spPr>
        <p:txBody>
          <a:bodyPr anchor="t" rtlCol="false" tIns="0" lIns="0" bIns="0" rIns="0">
            <a:spAutoFit/>
          </a:bodyPr>
          <a:lstStyle/>
          <a:p>
            <a:pPr algn="ctr">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DATA EXPLORATION</a:t>
            </a:r>
          </a:p>
        </p:txBody>
      </p:sp>
      <p:sp>
        <p:nvSpPr>
          <p:cNvPr name="TextBox 10" id="10"/>
          <p:cNvSpPr txBox="true"/>
          <p:nvPr/>
        </p:nvSpPr>
        <p:spPr>
          <a:xfrm rot="0">
            <a:off x="1176486" y="2213421"/>
            <a:ext cx="15935027" cy="1057201"/>
          </a:xfrm>
          <a:prstGeom prst="rect">
            <a:avLst/>
          </a:prstGeom>
        </p:spPr>
        <p:txBody>
          <a:bodyPr anchor="t" rtlCol="false" tIns="0" lIns="0" bIns="0" rIns="0">
            <a:spAutoFit/>
          </a:bodyPr>
          <a:lstStyle/>
          <a:p>
            <a:pPr algn="ctr">
              <a:lnSpc>
                <a:spcPts val="4200"/>
              </a:lnSpc>
              <a:spcBef>
                <a:spcPct val="0"/>
              </a:spcBef>
            </a:pPr>
            <a:r>
              <a:rPr lang="en-US" b="true" sz="3000" spc="-159">
                <a:solidFill>
                  <a:srgbClr val="FFFFFF"/>
                </a:solidFill>
                <a:latin typeface="Bricolage Grotesque Medium"/>
                <a:ea typeface="Bricolage Grotesque Medium"/>
                <a:cs typeface="Bricolage Grotesque Medium"/>
                <a:sym typeface="Bricolage Grotesque Medium"/>
              </a:rPr>
              <a:t>The data exploration phase involves examining the dataset's basic structure, using Pandas functions</a:t>
            </a:r>
          </a:p>
          <a:p>
            <a:pPr algn="ctr">
              <a:lnSpc>
                <a:spcPts val="4200"/>
              </a:lnSpc>
              <a:spcBef>
                <a:spcPct val="0"/>
              </a:spcBef>
            </a:pPr>
            <a:r>
              <a:rPr lang="en-US" b="true" sz="3000" spc="-159">
                <a:solidFill>
                  <a:srgbClr val="FFFFFF"/>
                </a:solidFill>
                <a:latin typeface="Bricolage Grotesque Medium"/>
                <a:ea typeface="Bricolage Grotesque Medium"/>
                <a:cs typeface="Bricolage Grotesque Medium"/>
                <a:sym typeface="Bricolage Grotesque Medium"/>
              </a:rPr>
              <a:t> like head(), info(), and describe() to gain initial insights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73737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87911" y="3886621"/>
            <a:ext cx="5197205" cy="6265544"/>
          </a:xfrm>
          <a:custGeom>
            <a:avLst/>
            <a:gdLst/>
            <a:ahLst/>
            <a:cxnLst/>
            <a:rect r="r" b="b" t="t" l="l"/>
            <a:pathLst>
              <a:path h="6265544" w="5197205">
                <a:moveTo>
                  <a:pt x="0" y="0"/>
                </a:moveTo>
                <a:lnTo>
                  <a:pt x="5197205" y="0"/>
                </a:lnTo>
                <a:lnTo>
                  <a:pt x="5197205" y="6265544"/>
                </a:lnTo>
                <a:lnTo>
                  <a:pt x="0" y="6265544"/>
                </a:lnTo>
                <a:lnTo>
                  <a:pt x="0" y="0"/>
                </a:lnTo>
                <a:close/>
              </a:path>
            </a:pathLst>
          </a:custGeom>
          <a:blipFill>
            <a:blip r:embed="rId4"/>
            <a:stretch>
              <a:fillRect l="0" t="0" r="0" b="-18893"/>
            </a:stretch>
          </a:blipFill>
        </p:spPr>
      </p:sp>
      <p:sp>
        <p:nvSpPr>
          <p:cNvPr name="Freeform 7" id="7"/>
          <p:cNvSpPr/>
          <p:nvPr/>
        </p:nvSpPr>
        <p:spPr>
          <a:xfrm flipH="false" flipV="false" rot="0">
            <a:off x="7442094" y="4036392"/>
            <a:ext cx="10372125" cy="2742722"/>
          </a:xfrm>
          <a:custGeom>
            <a:avLst/>
            <a:gdLst/>
            <a:ahLst/>
            <a:cxnLst/>
            <a:rect r="r" b="b" t="t" l="l"/>
            <a:pathLst>
              <a:path h="2742722" w="10372125">
                <a:moveTo>
                  <a:pt x="0" y="0"/>
                </a:moveTo>
                <a:lnTo>
                  <a:pt x="10372125" y="0"/>
                </a:lnTo>
                <a:lnTo>
                  <a:pt x="10372125" y="2742722"/>
                </a:lnTo>
                <a:lnTo>
                  <a:pt x="0" y="2742722"/>
                </a:lnTo>
                <a:lnTo>
                  <a:pt x="0" y="0"/>
                </a:lnTo>
                <a:close/>
              </a:path>
            </a:pathLst>
          </a:custGeom>
          <a:blipFill>
            <a:blip r:embed="rId5"/>
            <a:stretch>
              <a:fillRect l="0" t="0" r="0" b="0"/>
            </a:stretch>
          </a:blipFill>
        </p:spPr>
      </p:sp>
      <p:sp>
        <p:nvSpPr>
          <p:cNvPr name="TextBox 8" id="8"/>
          <p:cNvSpPr txBox="true"/>
          <p:nvPr/>
        </p:nvSpPr>
        <p:spPr>
          <a:xfrm rot="0">
            <a:off x="4004523" y="378460"/>
            <a:ext cx="10278954" cy="955676"/>
          </a:xfrm>
          <a:prstGeom prst="rect">
            <a:avLst/>
          </a:prstGeom>
        </p:spPr>
        <p:txBody>
          <a:bodyPr anchor="t" rtlCol="false" tIns="0" lIns="0" bIns="0" rIns="0">
            <a:spAutoFit/>
          </a:bodyPr>
          <a:lstStyle/>
          <a:p>
            <a:pPr algn="ctr">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DATA CLEANING</a:t>
            </a:r>
          </a:p>
        </p:txBody>
      </p:sp>
      <p:sp>
        <p:nvSpPr>
          <p:cNvPr name="TextBox 9" id="9"/>
          <p:cNvSpPr txBox="true"/>
          <p:nvPr/>
        </p:nvSpPr>
        <p:spPr>
          <a:xfrm rot="0">
            <a:off x="949102" y="1798644"/>
            <a:ext cx="16389795" cy="1298463"/>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spc="-132">
                <a:solidFill>
                  <a:srgbClr val="FFFFFF"/>
                </a:solidFill>
                <a:latin typeface="Bricolage Grotesque Medium"/>
                <a:ea typeface="Bricolage Grotesque Medium"/>
                <a:cs typeface="Bricolage Grotesque Medium"/>
                <a:sym typeface="Bricolage Grotesque Medium"/>
              </a:rPr>
              <a:t>Before analysis, it’s essential to ensure the dataset is clean and reliable.</a:t>
            </a:r>
          </a:p>
          <a:p>
            <a:pPr algn="just" marL="539749" indent="-269875" lvl="1">
              <a:lnSpc>
                <a:spcPts val="3499"/>
              </a:lnSpc>
              <a:buFont typeface="Arial"/>
              <a:buChar char="•"/>
            </a:pPr>
            <a:r>
              <a:rPr lang="en-US" b="true" sz="2499" spc="-132">
                <a:solidFill>
                  <a:srgbClr val="FFFFFF"/>
                </a:solidFill>
                <a:latin typeface="Bricolage Grotesque Medium"/>
                <a:ea typeface="Bricolage Grotesque Medium"/>
                <a:cs typeface="Bricolage Grotesque Medium"/>
                <a:sym typeface="Bricolage Grotesque Medium"/>
              </a:rPr>
              <a:t> This stage involves addressing missing values, removing duplicates, and formatting data correctly to maintain consistency and accuracy throughout the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102140" y="6968818"/>
            <a:ext cx="10194587" cy="2047189"/>
          </a:xfrm>
          <a:custGeom>
            <a:avLst/>
            <a:gdLst/>
            <a:ahLst/>
            <a:cxnLst/>
            <a:rect r="r" b="b" t="t" l="l"/>
            <a:pathLst>
              <a:path h="2047189" w="10194587">
                <a:moveTo>
                  <a:pt x="0" y="0"/>
                </a:moveTo>
                <a:lnTo>
                  <a:pt x="10194587" y="0"/>
                </a:lnTo>
                <a:lnTo>
                  <a:pt x="10194587" y="2047188"/>
                </a:lnTo>
                <a:lnTo>
                  <a:pt x="0" y="2047188"/>
                </a:lnTo>
                <a:lnTo>
                  <a:pt x="0" y="0"/>
                </a:lnTo>
                <a:close/>
              </a:path>
            </a:pathLst>
          </a:custGeom>
          <a:blipFill>
            <a:blip r:embed="rId4"/>
            <a:stretch>
              <a:fillRect l="0" t="0" r="0" b="0"/>
            </a:stretch>
          </a:blipFill>
        </p:spPr>
      </p:sp>
      <p:sp>
        <p:nvSpPr>
          <p:cNvPr name="TextBox 7" id="7"/>
          <p:cNvSpPr txBox="true"/>
          <p:nvPr/>
        </p:nvSpPr>
        <p:spPr>
          <a:xfrm rot="0">
            <a:off x="4004523" y="378460"/>
            <a:ext cx="10278954" cy="955676"/>
          </a:xfrm>
          <a:prstGeom prst="rect">
            <a:avLst/>
          </a:prstGeom>
        </p:spPr>
        <p:txBody>
          <a:bodyPr anchor="t" rtlCol="false" tIns="0" lIns="0" bIns="0" rIns="0">
            <a:spAutoFit/>
          </a:bodyPr>
          <a:lstStyle/>
          <a:p>
            <a:pPr algn="ctr">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DATA GROUPING</a:t>
            </a:r>
          </a:p>
        </p:txBody>
      </p:sp>
      <p:sp>
        <p:nvSpPr>
          <p:cNvPr name="TextBox 8" id="8"/>
          <p:cNvSpPr txBox="true"/>
          <p:nvPr/>
        </p:nvSpPr>
        <p:spPr>
          <a:xfrm rot="0">
            <a:off x="423819" y="1672235"/>
            <a:ext cx="17097096" cy="1225550"/>
          </a:xfrm>
          <a:prstGeom prst="rect">
            <a:avLst/>
          </a:prstGeom>
        </p:spPr>
        <p:txBody>
          <a:bodyPr anchor="t" rtlCol="false" tIns="0" lIns="0" bIns="0" rIns="0">
            <a:spAutoFit/>
          </a:bodyPr>
          <a:lstStyle/>
          <a:p>
            <a:pPr algn="ctr">
              <a:lnSpc>
                <a:spcPts val="4900"/>
              </a:lnSpc>
              <a:spcBef>
                <a:spcPct val="0"/>
              </a:spcBef>
            </a:pPr>
            <a:r>
              <a:rPr lang="en-US" b="true" sz="3500" spc="-185">
                <a:solidFill>
                  <a:srgbClr val="FFFFFF"/>
                </a:solidFill>
                <a:latin typeface="Bricolage Grotesque Medium"/>
                <a:ea typeface="Bricolage Grotesque Medium"/>
                <a:cs typeface="Bricolage Grotesque Medium"/>
                <a:sym typeface="Bricolage Grotesque Medium"/>
              </a:rPr>
              <a:t>After cleaning the dataset, grouping is used to uncover key patterns and salary trends across different job characteristics.</a:t>
            </a:r>
          </a:p>
        </p:txBody>
      </p:sp>
      <p:sp>
        <p:nvSpPr>
          <p:cNvPr name="TextBox 9" id="9"/>
          <p:cNvSpPr txBox="true"/>
          <p:nvPr/>
        </p:nvSpPr>
        <p:spPr>
          <a:xfrm rot="0">
            <a:off x="1028700" y="3178105"/>
            <a:ext cx="11064397" cy="3151906"/>
          </a:xfrm>
          <a:prstGeom prst="rect">
            <a:avLst/>
          </a:prstGeom>
        </p:spPr>
        <p:txBody>
          <a:bodyPr anchor="t" rtlCol="false" tIns="0" lIns="0" bIns="0" rIns="0">
            <a:spAutoFit/>
          </a:bodyPr>
          <a:lstStyle/>
          <a:p>
            <a:pPr algn="l">
              <a:lnSpc>
                <a:spcPts val="5563"/>
              </a:lnSpc>
            </a:pPr>
            <a:r>
              <a:rPr lang="en-US" b="true" sz="3974" spc="-210">
                <a:solidFill>
                  <a:srgbClr val="FFFFFF"/>
                </a:solidFill>
                <a:latin typeface="Bricolage Grotesque Medium"/>
                <a:ea typeface="Bricolage Grotesque Medium"/>
                <a:cs typeface="Bricolage Grotesque Medium"/>
                <a:sym typeface="Bricolage Grotesque Medium"/>
              </a:rPr>
              <a:t>What We Grouped By:</a:t>
            </a:r>
          </a:p>
          <a:p>
            <a:pPr algn="l" marL="750764" indent="-375382" lvl="1">
              <a:lnSpc>
                <a:spcPts val="4868"/>
              </a:lnSpc>
              <a:buFont typeface="Arial"/>
              <a:buChar char="•"/>
            </a:pPr>
            <a:r>
              <a:rPr lang="en-US" b="true" sz="3477" spc="-184">
                <a:solidFill>
                  <a:srgbClr val="FFFFFF"/>
                </a:solidFill>
                <a:latin typeface="Bricolage Grotesque Medium"/>
                <a:ea typeface="Bricolage Grotesque Medium"/>
                <a:cs typeface="Bricolage Grotesque Medium"/>
                <a:sym typeface="Bricolage Grotesque Medium"/>
              </a:rPr>
              <a:t>Job Title – to find highest-paying roles</a:t>
            </a:r>
          </a:p>
          <a:p>
            <a:pPr algn="l" marL="750764" indent="-375382" lvl="1">
              <a:lnSpc>
                <a:spcPts val="4868"/>
              </a:lnSpc>
              <a:buFont typeface="Arial"/>
              <a:buChar char="•"/>
            </a:pPr>
            <a:r>
              <a:rPr lang="en-US" b="true" sz="3477" spc="-184">
                <a:solidFill>
                  <a:srgbClr val="FFFFFF"/>
                </a:solidFill>
                <a:latin typeface="Bricolage Grotesque Medium"/>
                <a:ea typeface="Bricolage Grotesque Medium"/>
                <a:cs typeface="Bricolage Grotesque Medium"/>
                <a:sym typeface="Bricolage Grotesque Medium"/>
              </a:rPr>
              <a:t>Industry – to compare average salaries across sectors</a:t>
            </a:r>
          </a:p>
          <a:p>
            <a:pPr algn="l" marL="750764" indent="-375382" lvl="1">
              <a:lnSpc>
                <a:spcPts val="4868"/>
              </a:lnSpc>
              <a:buFont typeface="Arial"/>
              <a:buChar char="•"/>
            </a:pPr>
            <a:r>
              <a:rPr lang="en-US" b="true" sz="3477" spc="-184">
                <a:solidFill>
                  <a:srgbClr val="FFFFFF"/>
                </a:solidFill>
                <a:latin typeface="Bricolage Grotesque Medium"/>
                <a:ea typeface="Bricolage Grotesque Medium"/>
                <a:cs typeface="Bricolage Grotesque Medium"/>
                <a:sym typeface="Bricolage Grotesque Medium"/>
              </a:rPr>
              <a:t>Experience Level – to track how salary grows with experience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77637" y="1334136"/>
            <a:ext cx="9848661" cy="5320910"/>
          </a:xfrm>
          <a:custGeom>
            <a:avLst/>
            <a:gdLst/>
            <a:ahLst/>
            <a:cxnLst/>
            <a:rect r="r" b="b" t="t" l="l"/>
            <a:pathLst>
              <a:path h="5320910" w="9848661">
                <a:moveTo>
                  <a:pt x="0" y="0"/>
                </a:moveTo>
                <a:lnTo>
                  <a:pt x="9848661" y="0"/>
                </a:lnTo>
                <a:lnTo>
                  <a:pt x="9848661" y="5320910"/>
                </a:lnTo>
                <a:lnTo>
                  <a:pt x="0" y="5320910"/>
                </a:lnTo>
                <a:lnTo>
                  <a:pt x="0" y="0"/>
                </a:lnTo>
                <a:close/>
              </a:path>
            </a:pathLst>
          </a:custGeom>
          <a:blipFill>
            <a:blip r:embed="rId4"/>
            <a:stretch>
              <a:fillRect l="0" t="-1053" r="-9775" b="-1053"/>
            </a:stretch>
          </a:blipFill>
        </p:spPr>
      </p:sp>
      <p:sp>
        <p:nvSpPr>
          <p:cNvPr name="Freeform 7" id="7"/>
          <p:cNvSpPr/>
          <p:nvPr/>
        </p:nvSpPr>
        <p:spPr>
          <a:xfrm flipH="false" flipV="false" rot="0">
            <a:off x="777637" y="6655046"/>
            <a:ext cx="9848661" cy="2725115"/>
          </a:xfrm>
          <a:custGeom>
            <a:avLst/>
            <a:gdLst/>
            <a:ahLst/>
            <a:cxnLst/>
            <a:rect r="r" b="b" t="t" l="l"/>
            <a:pathLst>
              <a:path h="2725115" w="9848661">
                <a:moveTo>
                  <a:pt x="0" y="0"/>
                </a:moveTo>
                <a:lnTo>
                  <a:pt x="9848661" y="0"/>
                </a:lnTo>
                <a:lnTo>
                  <a:pt x="9848661" y="2725115"/>
                </a:lnTo>
                <a:lnTo>
                  <a:pt x="0" y="2725115"/>
                </a:lnTo>
                <a:lnTo>
                  <a:pt x="0" y="0"/>
                </a:lnTo>
                <a:close/>
              </a:path>
            </a:pathLst>
          </a:custGeom>
          <a:blipFill>
            <a:blip r:embed="rId5"/>
            <a:stretch>
              <a:fillRect l="0" t="0" r="0" b="0"/>
            </a:stretch>
          </a:blipFill>
        </p:spPr>
      </p:sp>
      <p:sp>
        <p:nvSpPr>
          <p:cNvPr name="Freeform 8" id="8"/>
          <p:cNvSpPr/>
          <p:nvPr/>
        </p:nvSpPr>
        <p:spPr>
          <a:xfrm flipH="false" flipV="false" rot="0">
            <a:off x="10976209" y="3097108"/>
            <a:ext cx="7149587" cy="5286667"/>
          </a:xfrm>
          <a:custGeom>
            <a:avLst/>
            <a:gdLst/>
            <a:ahLst/>
            <a:cxnLst/>
            <a:rect r="r" b="b" t="t" l="l"/>
            <a:pathLst>
              <a:path h="5286667" w="7149587">
                <a:moveTo>
                  <a:pt x="0" y="0"/>
                </a:moveTo>
                <a:lnTo>
                  <a:pt x="7149587" y="0"/>
                </a:lnTo>
                <a:lnTo>
                  <a:pt x="7149587" y="5286666"/>
                </a:lnTo>
                <a:lnTo>
                  <a:pt x="0" y="5286666"/>
                </a:lnTo>
                <a:lnTo>
                  <a:pt x="0" y="0"/>
                </a:lnTo>
                <a:close/>
              </a:path>
            </a:pathLst>
          </a:custGeom>
          <a:blipFill>
            <a:blip r:embed="rId6"/>
            <a:stretch>
              <a:fillRect l="0" t="0" r="0" b="0"/>
            </a:stretch>
          </a:blipFill>
        </p:spPr>
      </p:sp>
      <p:sp>
        <p:nvSpPr>
          <p:cNvPr name="TextBox 9" id="9"/>
          <p:cNvSpPr txBox="true"/>
          <p:nvPr/>
        </p:nvSpPr>
        <p:spPr>
          <a:xfrm rot="0">
            <a:off x="4004523" y="378460"/>
            <a:ext cx="10278954" cy="955676"/>
          </a:xfrm>
          <a:prstGeom prst="rect">
            <a:avLst/>
          </a:prstGeom>
        </p:spPr>
        <p:txBody>
          <a:bodyPr anchor="t" rtlCol="false" tIns="0" lIns="0" bIns="0" rIns="0">
            <a:spAutoFit/>
          </a:bodyPr>
          <a:lstStyle/>
          <a:p>
            <a:pPr algn="ctr">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DATA VISUALIZATION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343850" y="2774412"/>
            <a:ext cx="7456238" cy="6238035"/>
          </a:xfrm>
          <a:custGeom>
            <a:avLst/>
            <a:gdLst/>
            <a:ahLst/>
            <a:cxnLst/>
            <a:rect r="r" b="b" t="t" l="l"/>
            <a:pathLst>
              <a:path h="6238035" w="7456238">
                <a:moveTo>
                  <a:pt x="0" y="0"/>
                </a:moveTo>
                <a:lnTo>
                  <a:pt x="7456239" y="0"/>
                </a:lnTo>
                <a:lnTo>
                  <a:pt x="7456239" y="6238034"/>
                </a:lnTo>
                <a:lnTo>
                  <a:pt x="0" y="6238034"/>
                </a:lnTo>
                <a:lnTo>
                  <a:pt x="0" y="0"/>
                </a:lnTo>
                <a:close/>
              </a:path>
            </a:pathLst>
          </a:custGeom>
          <a:blipFill>
            <a:blip r:embed="rId4"/>
            <a:stretch>
              <a:fillRect l="0" t="0" r="0" b="-825"/>
            </a:stretch>
          </a:blipFill>
        </p:spPr>
      </p:sp>
      <p:sp>
        <p:nvSpPr>
          <p:cNvPr name="Freeform 7" id="7"/>
          <p:cNvSpPr/>
          <p:nvPr/>
        </p:nvSpPr>
        <p:spPr>
          <a:xfrm flipH="false" flipV="false" rot="0">
            <a:off x="2620691" y="1028700"/>
            <a:ext cx="4691196" cy="3151532"/>
          </a:xfrm>
          <a:custGeom>
            <a:avLst/>
            <a:gdLst/>
            <a:ahLst/>
            <a:cxnLst/>
            <a:rect r="r" b="b" t="t" l="l"/>
            <a:pathLst>
              <a:path h="3151532" w="4691196">
                <a:moveTo>
                  <a:pt x="0" y="0"/>
                </a:moveTo>
                <a:lnTo>
                  <a:pt x="4691197" y="0"/>
                </a:lnTo>
                <a:lnTo>
                  <a:pt x="4691197" y="3151532"/>
                </a:lnTo>
                <a:lnTo>
                  <a:pt x="0" y="3151532"/>
                </a:lnTo>
                <a:lnTo>
                  <a:pt x="0" y="0"/>
                </a:lnTo>
                <a:close/>
              </a:path>
            </a:pathLst>
          </a:custGeom>
          <a:blipFill>
            <a:blip r:embed="rId5"/>
            <a:stretch>
              <a:fillRect l="0" t="-3108" r="0" b="-3108"/>
            </a:stretch>
          </a:blipFill>
        </p:spPr>
      </p:sp>
      <p:sp>
        <p:nvSpPr>
          <p:cNvPr name="Freeform 8" id="8"/>
          <p:cNvSpPr/>
          <p:nvPr/>
        </p:nvSpPr>
        <p:spPr>
          <a:xfrm flipH="false" flipV="false" rot="0">
            <a:off x="1924987" y="4610278"/>
            <a:ext cx="6714527" cy="5401799"/>
          </a:xfrm>
          <a:custGeom>
            <a:avLst/>
            <a:gdLst/>
            <a:ahLst/>
            <a:cxnLst/>
            <a:rect r="r" b="b" t="t" l="l"/>
            <a:pathLst>
              <a:path h="5401799" w="6714527">
                <a:moveTo>
                  <a:pt x="0" y="0"/>
                </a:moveTo>
                <a:lnTo>
                  <a:pt x="6714527" y="0"/>
                </a:lnTo>
                <a:lnTo>
                  <a:pt x="6714527" y="5401799"/>
                </a:lnTo>
                <a:lnTo>
                  <a:pt x="0" y="5401799"/>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216455" y="2754456"/>
            <a:ext cx="4910380" cy="5176396"/>
            <a:chOff x="0" y="0"/>
            <a:chExt cx="1293269" cy="1363331"/>
          </a:xfrm>
        </p:grpSpPr>
        <p:sp>
          <p:nvSpPr>
            <p:cNvPr name="Freeform 3" id="3"/>
            <p:cNvSpPr/>
            <p:nvPr/>
          </p:nvSpPr>
          <p:spPr>
            <a:xfrm flipH="false" flipV="false" rot="0">
              <a:off x="0" y="0"/>
              <a:ext cx="1293269" cy="1363331"/>
            </a:xfrm>
            <a:custGeom>
              <a:avLst/>
              <a:gdLst/>
              <a:ahLst/>
              <a:cxnLst/>
              <a:rect r="r" b="b" t="t" l="l"/>
              <a:pathLst>
                <a:path h="1363331" w="1293269">
                  <a:moveTo>
                    <a:pt x="36263" y="0"/>
                  </a:moveTo>
                  <a:lnTo>
                    <a:pt x="1257006" y="0"/>
                  </a:lnTo>
                  <a:cubicBezTo>
                    <a:pt x="1266624" y="0"/>
                    <a:pt x="1275847" y="3821"/>
                    <a:pt x="1282648" y="10621"/>
                  </a:cubicBezTo>
                  <a:cubicBezTo>
                    <a:pt x="1289448" y="17422"/>
                    <a:pt x="1293269" y="26645"/>
                    <a:pt x="1293269" y="36263"/>
                  </a:cubicBezTo>
                  <a:lnTo>
                    <a:pt x="1293269" y="1327068"/>
                  </a:lnTo>
                  <a:cubicBezTo>
                    <a:pt x="1293269" y="1347095"/>
                    <a:pt x="1277033" y="1363331"/>
                    <a:pt x="1257006" y="1363331"/>
                  </a:cubicBezTo>
                  <a:lnTo>
                    <a:pt x="36263" y="1363331"/>
                  </a:lnTo>
                  <a:cubicBezTo>
                    <a:pt x="26645" y="1363331"/>
                    <a:pt x="17422" y="1359510"/>
                    <a:pt x="10621" y="1352709"/>
                  </a:cubicBezTo>
                  <a:cubicBezTo>
                    <a:pt x="3821" y="1345909"/>
                    <a:pt x="0" y="1336685"/>
                    <a:pt x="0" y="1327068"/>
                  </a:cubicBezTo>
                  <a:lnTo>
                    <a:pt x="0" y="36263"/>
                  </a:lnTo>
                  <a:cubicBezTo>
                    <a:pt x="0" y="26645"/>
                    <a:pt x="3821" y="17422"/>
                    <a:pt x="10621" y="10621"/>
                  </a:cubicBezTo>
                  <a:cubicBezTo>
                    <a:pt x="17422" y="3821"/>
                    <a:pt x="26645" y="0"/>
                    <a:pt x="36263" y="0"/>
                  </a:cubicBezTo>
                  <a:close/>
                </a:path>
              </a:pathLst>
            </a:custGeom>
            <a:solidFill>
              <a:srgbClr val="3E4466"/>
            </a:solidFill>
            <a:ln cap="rnd">
              <a:noFill/>
              <a:prstDash val="solid"/>
              <a:round/>
            </a:ln>
          </p:spPr>
        </p:sp>
        <p:sp>
          <p:nvSpPr>
            <p:cNvPr name="TextBox 4" id="4"/>
            <p:cNvSpPr txBox="true"/>
            <p:nvPr/>
          </p:nvSpPr>
          <p:spPr>
            <a:xfrm>
              <a:off x="0" y="104775"/>
              <a:ext cx="1293269" cy="1258556"/>
            </a:xfrm>
            <a:prstGeom prst="rect">
              <a:avLst/>
            </a:prstGeom>
          </p:spPr>
          <p:txBody>
            <a:bodyPr anchor="ctr" rtlCol="false" tIns="50800" lIns="50800" bIns="50800" rIns="50800"/>
            <a:lstStyle/>
            <a:p>
              <a:pPr algn="ctr">
                <a:lnSpc>
                  <a:spcPts val="799"/>
                </a:lnSpc>
              </a:pPr>
            </a:p>
          </p:txBody>
        </p:sp>
      </p:grpSp>
      <p:sp>
        <p:nvSpPr>
          <p:cNvPr name="TextBox 5" id="5"/>
          <p:cNvSpPr txBox="true"/>
          <p:nvPr/>
        </p:nvSpPr>
        <p:spPr>
          <a:xfrm rot="0">
            <a:off x="4338784" y="257175"/>
            <a:ext cx="8926036" cy="1074739"/>
          </a:xfrm>
          <a:prstGeom prst="rect">
            <a:avLst/>
          </a:prstGeom>
        </p:spPr>
        <p:txBody>
          <a:bodyPr anchor="t" rtlCol="false" tIns="0" lIns="0" bIns="0" rIns="0">
            <a:spAutoFit/>
          </a:bodyPr>
          <a:lstStyle/>
          <a:p>
            <a:pPr algn="ctr">
              <a:lnSpc>
                <a:spcPts val="6800"/>
              </a:lnSpc>
            </a:pPr>
            <a:r>
              <a:rPr lang="en-US" b="true" sz="8000" spc="-400">
                <a:solidFill>
                  <a:srgbClr val="EDEDED"/>
                </a:solidFill>
                <a:latin typeface="Helvetica World Bold"/>
                <a:ea typeface="Helvetica World Bold"/>
                <a:cs typeface="Helvetica World Bold"/>
                <a:sym typeface="Helvetica World Bold"/>
              </a:rPr>
              <a:t>usage of libraries</a:t>
            </a:r>
          </a:p>
        </p:txBody>
      </p:sp>
      <p:grpSp>
        <p:nvGrpSpPr>
          <p:cNvPr name="Group 6" id="6"/>
          <p:cNvGrpSpPr/>
          <p:nvPr/>
        </p:nvGrpSpPr>
        <p:grpSpPr>
          <a:xfrm rot="0">
            <a:off x="2707203" y="2078049"/>
            <a:ext cx="1328788" cy="1305738"/>
            <a:chOff x="0" y="0"/>
            <a:chExt cx="513522" cy="504614"/>
          </a:xfrm>
        </p:grpSpPr>
        <p:sp>
          <p:nvSpPr>
            <p:cNvPr name="Freeform 7" id="7"/>
            <p:cNvSpPr/>
            <p:nvPr/>
          </p:nvSpPr>
          <p:spPr>
            <a:xfrm flipH="false" flipV="false" rot="0">
              <a:off x="0" y="0"/>
              <a:ext cx="513522" cy="504614"/>
            </a:xfrm>
            <a:custGeom>
              <a:avLst/>
              <a:gdLst/>
              <a:ahLst/>
              <a:cxnLst/>
              <a:rect r="r" b="b" t="t" l="l"/>
              <a:pathLst>
                <a:path h="504614" w="513522">
                  <a:moveTo>
                    <a:pt x="134005" y="0"/>
                  </a:moveTo>
                  <a:lnTo>
                    <a:pt x="379517" y="0"/>
                  </a:lnTo>
                  <a:cubicBezTo>
                    <a:pt x="453525" y="0"/>
                    <a:pt x="513522" y="59996"/>
                    <a:pt x="513522" y="134005"/>
                  </a:cubicBezTo>
                  <a:lnTo>
                    <a:pt x="513522" y="370609"/>
                  </a:lnTo>
                  <a:cubicBezTo>
                    <a:pt x="513522" y="406149"/>
                    <a:pt x="499403" y="440234"/>
                    <a:pt x="474272" y="465364"/>
                  </a:cubicBezTo>
                  <a:cubicBezTo>
                    <a:pt x="449142" y="490495"/>
                    <a:pt x="415057" y="504614"/>
                    <a:pt x="379517" y="504614"/>
                  </a:cubicBezTo>
                  <a:lnTo>
                    <a:pt x="134005" y="504614"/>
                  </a:lnTo>
                  <a:cubicBezTo>
                    <a:pt x="59996" y="504614"/>
                    <a:pt x="0" y="444618"/>
                    <a:pt x="0" y="370609"/>
                  </a:cubicBezTo>
                  <a:lnTo>
                    <a:pt x="0" y="134005"/>
                  </a:lnTo>
                  <a:cubicBezTo>
                    <a:pt x="0" y="59996"/>
                    <a:pt x="59996" y="0"/>
                    <a:pt x="134005" y="0"/>
                  </a:cubicBezTo>
                  <a:close/>
                </a:path>
              </a:pathLst>
            </a:custGeom>
            <a:solidFill>
              <a:srgbClr val="FB6600"/>
            </a:solidFill>
            <a:ln cap="rnd">
              <a:noFill/>
              <a:prstDash val="solid"/>
              <a:round/>
            </a:ln>
          </p:spPr>
        </p:sp>
        <p:sp>
          <p:nvSpPr>
            <p:cNvPr name="TextBox 8" id="8"/>
            <p:cNvSpPr txBox="true"/>
            <p:nvPr/>
          </p:nvSpPr>
          <p:spPr>
            <a:xfrm>
              <a:off x="0" y="95250"/>
              <a:ext cx="513522" cy="409364"/>
            </a:xfrm>
            <a:prstGeom prst="rect">
              <a:avLst/>
            </a:prstGeom>
          </p:spPr>
          <p:txBody>
            <a:bodyPr anchor="ctr" rtlCol="false" tIns="26959" lIns="26959" bIns="26959" rIns="26959"/>
            <a:lstStyle/>
            <a:p>
              <a:pPr algn="ctr" marL="0" indent="0" lvl="0">
                <a:lnSpc>
                  <a:spcPts val="799"/>
                </a:lnSpc>
                <a:spcBef>
                  <a:spcPct val="0"/>
                </a:spcBef>
              </a:pPr>
            </a:p>
          </p:txBody>
        </p:sp>
      </p:grpSp>
      <p:sp>
        <p:nvSpPr>
          <p:cNvPr name="TextBox 9" id="9"/>
          <p:cNvSpPr txBox="true"/>
          <p:nvPr/>
        </p:nvSpPr>
        <p:spPr>
          <a:xfrm rot="0">
            <a:off x="2921952" y="2277909"/>
            <a:ext cx="1114038" cy="1153669"/>
          </a:xfrm>
          <a:prstGeom prst="rect">
            <a:avLst/>
          </a:prstGeom>
        </p:spPr>
        <p:txBody>
          <a:bodyPr anchor="t" rtlCol="false" tIns="0" lIns="0" bIns="0" rIns="0">
            <a:spAutoFit/>
          </a:bodyPr>
          <a:lstStyle/>
          <a:p>
            <a:pPr algn="ctr">
              <a:lnSpc>
                <a:spcPts val="8325"/>
              </a:lnSpc>
            </a:pPr>
            <a:r>
              <a:rPr lang="en-US" b="true" sz="9250" spc="-740">
                <a:solidFill>
                  <a:srgbClr val="FFFFFF"/>
                </a:solidFill>
                <a:latin typeface="Disket Mono Bold"/>
                <a:ea typeface="Disket Mono Bold"/>
                <a:cs typeface="Disket Mono Bold"/>
                <a:sym typeface="Disket Mono Bold"/>
              </a:rPr>
              <a:t>1</a:t>
            </a:r>
          </a:p>
        </p:txBody>
      </p:sp>
      <p:grpSp>
        <p:nvGrpSpPr>
          <p:cNvPr name="Group 10" id="10"/>
          <p:cNvGrpSpPr/>
          <p:nvPr/>
        </p:nvGrpSpPr>
        <p:grpSpPr>
          <a:xfrm rot="0">
            <a:off x="6688810" y="2730918"/>
            <a:ext cx="4910380" cy="5127137"/>
            <a:chOff x="0" y="0"/>
            <a:chExt cx="1293269" cy="1350357"/>
          </a:xfrm>
        </p:grpSpPr>
        <p:sp>
          <p:nvSpPr>
            <p:cNvPr name="Freeform 11" id="11"/>
            <p:cNvSpPr/>
            <p:nvPr/>
          </p:nvSpPr>
          <p:spPr>
            <a:xfrm flipH="false" flipV="false" rot="0">
              <a:off x="0" y="0"/>
              <a:ext cx="1293269" cy="1350357"/>
            </a:xfrm>
            <a:custGeom>
              <a:avLst/>
              <a:gdLst/>
              <a:ahLst/>
              <a:cxnLst/>
              <a:rect r="r" b="b" t="t" l="l"/>
              <a:pathLst>
                <a:path h="1350357" w="1293269">
                  <a:moveTo>
                    <a:pt x="36263" y="0"/>
                  </a:moveTo>
                  <a:lnTo>
                    <a:pt x="1257006" y="0"/>
                  </a:lnTo>
                  <a:cubicBezTo>
                    <a:pt x="1266624" y="0"/>
                    <a:pt x="1275847" y="3821"/>
                    <a:pt x="1282648" y="10621"/>
                  </a:cubicBezTo>
                  <a:cubicBezTo>
                    <a:pt x="1289448" y="17422"/>
                    <a:pt x="1293269" y="26645"/>
                    <a:pt x="1293269" y="36263"/>
                  </a:cubicBezTo>
                  <a:lnTo>
                    <a:pt x="1293269" y="1314094"/>
                  </a:lnTo>
                  <a:cubicBezTo>
                    <a:pt x="1293269" y="1334122"/>
                    <a:pt x="1277033" y="1350357"/>
                    <a:pt x="1257006" y="1350357"/>
                  </a:cubicBezTo>
                  <a:lnTo>
                    <a:pt x="36263" y="1350357"/>
                  </a:lnTo>
                  <a:cubicBezTo>
                    <a:pt x="26645" y="1350357"/>
                    <a:pt x="17422" y="1346537"/>
                    <a:pt x="10621" y="1339736"/>
                  </a:cubicBezTo>
                  <a:cubicBezTo>
                    <a:pt x="3821" y="1332935"/>
                    <a:pt x="0" y="1323712"/>
                    <a:pt x="0" y="1314094"/>
                  </a:cubicBezTo>
                  <a:lnTo>
                    <a:pt x="0" y="36263"/>
                  </a:lnTo>
                  <a:cubicBezTo>
                    <a:pt x="0" y="26645"/>
                    <a:pt x="3821" y="17422"/>
                    <a:pt x="10621" y="10621"/>
                  </a:cubicBezTo>
                  <a:cubicBezTo>
                    <a:pt x="17422" y="3821"/>
                    <a:pt x="26645" y="0"/>
                    <a:pt x="36263" y="0"/>
                  </a:cubicBezTo>
                  <a:close/>
                </a:path>
              </a:pathLst>
            </a:custGeom>
            <a:solidFill>
              <a:srgbClr val="3E4466"/>
            </a:solidFill>
            <a:ln cap="rnd">
              <a:noFill/>
              <a:prstDash val="solid"/>
              <a:round/>
            </a:ln>
          </p:spPr>
        </p:sp>
        <p:sp>
          <p:nvSpPr>
            <p:cNvPr name="TextBox 12" id="12"/>
            <p:cNvSpPr txBox="true"/>
            <p:nvPr/>
          </p:nvSpPr>
          <p:spPr>
            <a:xfrm>
              <a:off x="0" y="104775"/>
              <a:ext cx="1293269" cy="1245582"/>
            </a:xfrm>
            <a:prstGeom prst="rect">
              <a:avLst/>
            </a:prstGeom>
          </p:spPr>
          <p:txBody>
            <a:bodyPr anchor="ctr" rtlCol="false" tIns="50800" lIns="50800" bIns="50800" rIns="50800"/>
            <a:lstStyle/>
            <a:p>
              <a:pPr algn="ctr">
                <a:lnSpc>
                  <a:spcPts val="799"/>
                </a:lnSpc>
              </a:pPr>
            </a:p>
          </p:txBody>
        </p:sp>
      </p:grpSp>
      <p:grpSp>
        <p:nvGrpSpPr>
          <p:cNvPr name="Group 13" id="13"/>
          <p:cNvGrpSpPr/>
          <p:nvPr/>
        </p:nvGrpSpPr>
        <p:grpSpPr>
          <a:xfrm rot="0">
            <a:off x="8137408" y="2078049"/>
            <a:ext cx="1328788" cy="1305738"/>
            <a:chOff x="0" y="0"/>
            <a:chExt cx="513522" cy="504614"/>
          </a:xfrm>
        </p:grpSpPr>
        <p:sp>
          <p:nvSpPr>
            <p:cNvPr name="Freeform 14" id="14"/>
            <p:cNvSpPr/>
            <p:nvPr/>
          </p:nvSpPr>
          <p:spPr>
            <a:xfrm flipH="false" flipV="false" rot="0">
              <a:off x="0" y="0"/>
              <a:ext cx="513522" cy="504614"/>
            </a:xfrm>
            <a:custGeom>
              <a:avLst/>
              <a:gdLst/>
              <a:ahLst/>
              <a:cxnLst/>
              <a:rect r="r" b="b" t="t" l="l"/>
              <a:pathLst>
                <a:path h="504614" w="513522">
                  <a:moveTo>
                    <a:pt x="134005" y="0"/>
                  </a:moveTo>
                  <a:lnTo>
                    <a:pt x="379517" y="0"/>
                  </a:lnTo>
                  <a:cubicBezTo>
                    <a:pt x="453525" y="0"/>
                    <a:pt x="513522" y="59996"/>
                    <a:pt x="513522" y="134005"/>
                  </a:cubicBezTo>
                  <a:lnTo>
                    <a:pt x="513522" y="370609"/>
                  </a:lnTo>
                  <a:cubicBezTo>
                    <a:pt x="513522" y="406149"/>
                    <a:pt x="499403" y="440234"/>
                    <a:pt x="474272" y="465364"/>
                  </a:cubicBezTo>
                  <a:cubicBezTo>
                    <a:pt x="449142" y="490495"/>
                    <a:pt x="415057" y="504614"/>
                    <a:pt x="379517" y="504614"/>
                  </a:cubicBezTo>
                  <a:lnTo>
                    <a:pt x="134005" y="504614"/>
                  </a:lnTo>
                  <a:cubicBezTo>
                    <a:pt x="59996" y="504614"/>
                    <a:pt x="0" y="444618"/>
                    <a:pt x="0" y="370609"/>
                  </a:cubicBezTo>
                  <a:lnTo>
                    <a:pt x="0" y="134005"/>
                  </a:lnTo>
                  <a:cubicBezTo>
                    <a:pt x="0" y="59996"/>
                    <a:pt x="59996" y="0"/>
                    <a:pt x="134005" y="0"/>
                  </a:cubicBezTo>
                  <a:close/>
                </a:path>
              </a:pathLst>
            </a:custGeom>
            <a:solidFill>
              <a:srgbClr val="FB8800"/>
            </a:solidFill>
            <a:ln cap="rnd">
              <a:noFill/>
              <a:prstDash val="solid"/>
              <a:round/>
            </a:ln>
          </p:spPr>
        </p:sp>
        <p:sp>
          <p:nvSpPr>
            <p:cNvPr name="TextBox 15" id="15"/>
            <p:cNvSpPr txBox="true"/>
            <p:nvPr/>
          </p:nvSpPr>
          <p:spPr>
            <a:xfrm>
              <a:off x="0" y="95250"/>
              <a:ext cx="513522" cy="409364"/>
            </a:xfrm>
            <a:prstGeom prst="rect">
              <a:avLst/>
            </a:prstGeom>
          </p:spPr>
          <p:txBody>
            <a:bodyPr anchor="ctr" rtlCol="false" tIns="26959" lIns="26959" bIns="26959" rIns="26959"/>
            <a:lstStyle/>
            <a:p>
              <a:pPr algn="ctr" marL="0" indent="0" lvl="0">
                <a:lnSpc>
                  <a:spcPts val="799"/>
                </a:lnSpc>
                <a:spcBef>
                  <a:spcPct val="0"/>
                </a:spcBef>
              </a:pPr>
            </a:p>
          </p:txBody>
        </p:sp>
      </p:grpSp>
      <p:sp>
        <p:nvSpPr>
          <p:cNvPr name="TextBox 16" id="16"/>
          <p:cNvSpPr txBox="true"/>
          <p:nvPr/>
        </p:nvSpPr>
        <p:spPr>
          <a:xfrm rot="0">
            <a:off x="8244783" y="2297252"/>
            <a:ext cx="1114038" cy="1162058"/>
          </a:xfrm>
          <a:prstGeom prst="rect">
            <a:avLst/>
          </a:prstGeom>
        </p:spPr>
        <p:txBody>
          <a:bodyPr anchor="t" rtlCol="false" tIns="0" lIns="0" bIns="0" rIns="0">
            <a:spAutoFit/>
          </a:bodyPr>
          <a:lstStyle/>
          <a:p>
            <a:pPr algn="ctr">
              <a:lnSpc>
                <a:spcPts val="8325"/>
              </a:lnSpc>
            </a:pPr>
            <a:r>
              <a:rPr lang="en-US" b="true" sz="9250" spc="-740">
                <a:solidFill>
                  <a:srgbClr val="FFFFFF"/>
                </a:solidFill>
                <a:latin typeface="Disket Mono Bold"/>
                <a:ea typeface="Disket Mono Bold"/>
                <a:cs typeface="Disket Mono Bold"/>
                <a:sym typeface="Disket Mono Bold"/>
              </a:rPr>
              <a:t>2</a:t>
            </a:r>
          </a:p>
        </p:txBody>
      </p:sp>
      <p:grpSp>
        <p:nvGrpSpPr>
          <p:cNvPr name="Group 17" id="17"/>
          <p:cNvGrpSpPr/>
          <p:nvPr/>
        </p:nvGrpSpPr>
        <p:grpSpPr>
          <a:xfrm rot="0">
            <a:off x="12161165" y="2683127"/>
            <a:ext cx="4910380" cy="5127137"/>
            <a:chOff x="0" y="0"/>
            <a:chExt cx="1293269" cy="1350357"/>
          </a:xfrm>
        </p:grpSpPr>
        <p:sp>
          <p:nvSpPr>
            <p:cNvPr name="Freeform 18" id="18"/>
            <p:cNvSpPr/>
            <p:nvPr/>
          </p:nvSpPr>
          <p:spPr>
            <a:xfrm flipH="false" flipV="false" rot="0">
              <a:off x="0" y="0"/>
              <a:ext cx="1293269" cy="1350357"/>
            </a:xfrm>
            <a:custGeom>
              <a:avLst/>
              <a:gdLst/>
              <a:ahLst/>
              <a:cxnLst/>
              <a:rect r="r" b="b" t="t" l="l"/>
              <a:pathLst>
                <a:path h="1350357" w="1293269">
                  <a:moveTo>
                    <a:pt x="36263" y="0"/>
                  </a:moveTo>
                  <a:lnTo>
                    <a:pt x="1257006" y="0"/>
                  </a:lnTo>
                  <a:cubicBezTo>
                    <a:pt x="1266624" y="0"/>
                    <a:pt x="1275847" y="3821"/>
                    <a:pt x="1282648" y="10621"/>
                  </a:cubicBezTo>
                  <a:cubicBezTo>
                    <a:pt x="1289448" y="17422"/>
                    <a:pt x="1293269" y="26645"/>
                    <a:pt x="1293269" y="36263"/>
                  </a:cubicBezTo>
                  <a:lnTo>
                    <a:pt x="1293269" y="1314094"/>
                  </a:lnTo>
                  <a:cubicBezTo>
                    <a:pt x="1293269" y="1334122"/>
                    <a:pt x="1277033" y="1350357"/>
                    <a:pt x="1257006" y="1350357"/>
                  </a:cubicBezTo>
                  <a:lnTo>
                    <a:pt x="36263" y="1350357"/>
                  </a:lnTo>
                  <a:cubicBezTo>
                    <a:pt x="26645" y="1350357"/>
                    <a:pt x="17422" y="1346537"/>
                    <a:pt x="10621" y="1339736"/>
                  </a:cubicBezTo>
                  <a:cubicBezTo>
                    <a:pt x="3821" y="1332935"/>
                    <a:pt x="0" y="1323712"/>
                    <a:pt x="0" y="1314094"/>
                  </a:cubicBezTo>
                  <a:lnTo>
                    <a:pt x="0" y="36263"/>
                  </a:lnTo>
                  <a:cubicBezTo>
                    <a:pt x="0" y="26645"/>
                    <a:pt x="3821" y="17422"/>
                    <a:pt x="10621" y="10621"/>
                  </a:cubicBezTo>
                  <a:cubicBezTo>
                    <a:pt x="17422" y="3821"/>
                    <a:pt x="26645" y="0"/>
                    <a:pt x="36263" y="0"/>
                  </a:cubicBezTo>
                  <a:close/>
                </a:path>
              </a:pathLst>
            </a:custGeom>
            <a:solidFill>
              <a:srgbClr val="3E4466"/>
            </a:solidFill>
            <a:ln cap="rnd">
              <a:noFill/>
              <a:prstDash val="solid"/>
              <a:round/>
            </a:ln>
          </p:spPr>
        </p:sp>
        <p:sp>
          <p:nvSpPr>
            <p:cNvPr name="TextBox 19" id="19"/>
            <p:cNvSpPr txBox="true"/>
            <p:nvPr/>
          </p:nvSpPr>
          <p:spPr>
            <a:xfrm>
              <a:off x="0" y="104775"/>
              <a:ext cx="1293269" cy="1245582"/>
            </a:xfrm>
            <a:prstGeom prst="rect">
              <a:avLst/>
            </a:prstGeom>
          </p:spPr>
          <p:txBody>
            <a:bodyPr anchor="ctr" rtlCol="false" tIns="50800" lIns="50800" bIns="50800" rIns="50800"/>
            <a:lstStyle/>
            <a:p>
              <a:pPr algn="ctr">
                <a:lnSpc>
                  <a:spcPts val="799"/>
                </a:lnSpc>
              </a:pPr>
            </a:p>
          </p:txBody>
        </p:sp>
      </p:grpSp>
      <p:grpSp>
        <p:nvGrpSpPr>
          <p:cNvPr name="Group 20" id="20"/>
          <p:cNvGrpSpPr/>
          <p:nvPr/>
        </p:nvGrpSpPr>
        <p:grpSpPr>
          <a:xfrm rot="0">
            <a:off x="13826046" y="2030259"/>
            <a:ext cx="1328788" cy="1305738"/>
            <a:chOff x="0" y="0"/>
            <a:chExt cx="513522" cy="504614"/>
          </a:xfrm>
        </p:grpSpPr>
        <p:sp>
          <p:nvSpPr>
            <p:cNvPr name="Freeform 21" id="21"/>
            <p:cNvSpPr/>
            <p:nvPr/>
          </p:nvSpPr>
          <p:spPr>
            <a:xfrm flipH="false" flipV="false" rot="0">
              <a:off x="0" y="0"/>
              <a:ext cx="513522" cy="504614"/>
            </a:xfrm>
            <a:custGeom>
              <a:avLst/>
              <a:gdLst/>
              <a:ahLst/>
              <a:cxnLst/>
              <a:rect r="r" b="b" t="t" l="l"/>
              <a:pathLst>
                <a:path h="504614" w="513522">
                  <a:moveTo>
                    <a:pt x="134005" y="0"/>
                  </a:moveTo>
                  <a:lnTo>
                    <a:pt x="379517" y="0"/>
                  </a:lnTo>
                  <a:cubicBezTo>
                    <a:pt x="453525" y="0"/>
                    <a:pt x="513522" y="59996"/>
                    <a:pt x="513522" y="134005"/>
                  </a:cubicBezTo>
                  <a:lnTo>
                    <a:pt x="513522" y="370609"/>
                  </a:lnTo>
                  <a:cubicBezTo>
                    <a:pt x="513522" y="406149"/>
                    <a:pt x="499403" y="440234"/>
                    <a:pt x="474272" y="465364"/>
                  </a:cubicBezTo>
                  <a:cubicBezTo>
                    <a:pt x="449142" y="490495"/>
                    <a:pt x="415057" y="504614"/>
                    <a:pt x="379517" y="504614"/>
                  </a:cubicBezTo>
                  <a:lnTo>
                    <a:pt x="134005" y="504614"/>
                  </a:lnTo>
                  <a:cubicBezTo>
                    <a:pt x="59996" y="504614"/>
                    <a:pt x="0" y="444618"/>
                    <a:pt x="0" y="370609"/>
                  </a:cubicBezTo>
                  <a:lnTo>
                    <a:pt x="0" y="134005"/>
                  </a:lnTo>
                  <a:cubicBezTo>
                    <a:pt x="0" y="59996"/>
                    <a:pt x="59996" y="0"/>
                    <a:pt x="134005" y="0"/>
                  </a:cubicBezTo>
                  <a:close/>
                </a:path>
              </a:pathLst>
            </a:custGeom>
            <a:solidFill>
              <a:srgbClr val="FBB500"/>
            </a:solidFill>
            <a:ln cap="rnd">
              <a:noFill/>
              <a:prstDash val="solid"/>
              <a:round/>
            </a:ln>
          </p:spPr>
        </p:sp>
        <p:sp>
          <p:nvSpPr>
            <p:cNvPr name="TextBox 22" id="22"/>
            <p:cNvSpPr txBox="true"/>
            <p:nvPr/>
          </p:nvSpPr>
          <p:spPr>
            <a:xfrm>
              <a:off x="0" y="95250"/>
              <a:ext cx="513522" cy="409364"/>
            </a:xfrm>
            <a:prstGeom prst="rect">
              <a:avLst/>
            </a:prstGeom>
          </p:spPr>
          <p:txBody>
            <a:bodyPr anchor="ctr" rtlCol="false" tIns="26959" lIns="26959" bIns="26959" rIns="26959"/>
            <a:lstStyle/>
            <a:p>
              <a:pPr algn="ctr" marL="0" indent="0" lvl="0">
                <a:lnSpc>
                  <a:spcPts val="799"/>
                </a:lnSpc>
                <a:spcBef>
                  <a:spcPct val="0"/>
                </a:spcBef>
              </a:pPr>
            </a:p>
          </p:txBody>
        </p:sp>
      </p:grpSp>
      <p:sp>
        <p:nvSpPr>
          <p:cNvPr name="TextBox 23" id="23"/>
          <p:cNvSpPr txBox="true"/>
          <p:nvPr/>
        </p:nvSpPr>
        <p:spPr>
          <a:xfrm rot="0">
            <a:off x="13933421" y="2230118"/>
            <a:ext cx="1114038" cy="1153669"/>
          </a:xfrm>
          <a:prstGeom prst="rect">
            <a:avLst/>
          </a:prstGeom>
        </p:spPr>
        <p:txBody>
          <a:bodyPr anchor="t" rtlCol="false" tIns="0" lIns="0" bIns="0" rIns="0">
            <a:spAutoFit/>
          </a:bodyPr>
          <a:lstStyle/>
          <a:p>
            <a:pPr algn="ctr">
              <a:lnSpc>
                <a:spcPts val="8325"/>
              </a:lnSpc>
            </a:pPr>
            <a:r>
              <a:rPr lang="en-US" b="true" sz="9250" spc="-740">
                <a:solidFill>
                  <a:srgbClr val="FFFFFF"/>
                </a:solidFill>
                <a:latin typeface="Disket Mono Bold"/>
                <a:ea typeface="Disket Mono Bold"/>
                <a:cs typeface="Disket Mono Bold"/>
                <a:sym typeface="Disket Mono Bold"/>
              </a:rPr>
              <a:t>3</a:t>
            </a:r>
          </a:p>
        </p:txBody>
      </p:sp>
      <p:sp>
        <p:nvSpPr>
          <p:cNvPr name="Freeform 24" id="24"/>
          <p:cNvSpPr/>
          <p:nvPr/>
        </p:nvSpPr>
        <p:spPr>
          <a:xfrm flipH="false" flipV="false" rot="0">
            <a:off x="3283552" y="2803714"/>
            <a:ext cx="390838" cy="390838"/>
          </a:xfrm>
          <a:custGeom>
            <a:avLst/>
            <a:gdLst/>
            <a:ahLst/>
            <a:cxnLst/>
            <a:rect r="r" b="b" t="t" l="l"/>
            <a:pathLst>
              <a:path h="390838" w="390838">
                <a:moveTo>
                  <a:pt x="0" y="0"/>
                </a:moveTo>
                <a:lnTo>
                  <a:pt x="390838" y="0"/>
                </a:lnTo>
                <a:lnTo>
                  <a:pt x="390838" y="390838"/>
                </a:lnTo>
                <a:lnTo>
                  <a:pt x="0" y="390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7630775" y="4123499"/>
            <a:ext cx="390838" cy="390838"/>
          </a:xfrm>
          <a:custGeom>
            <a:avLst/>
            <a:gdLst/>
            <a:ahLst/>
            <a:cxnLst/>
            <a:rect r="r" b="b" t="t" l="l"/>
            <a:pathLst>
              <a:path h="390838" w="390838">
                <a:moveTo>
                  <a:pt x="0" y="0"/>
                </a:moveTo>
                <a:lnTo>
                  <a:pt x="390838" y="0"/>
                </a:lnTo>
                <a:lnTo>
                  <a:pt x="390838" y="390837"/>
                </a:lnTo>
                <a:lnTo>
                  <a:pt x="0" y="390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7795592" y="9401801"/>
            <a:ext cx="390838" cy="390838"/>
          </a:xfrm>
          <a:custGeom>
            <a:avLst/>
            <a:gdLst/>
            <a:ahLst/>
            <a:cxnLst/>
            <a:rect r="r" b="b" t="t" l="l"/>
            <a:pathLst>
              <a:path h="390838" w="390838">
                <a:moveTo>
                  <a:pt x="0" y="0"/>
                </a:moveTo>
                <a:lnTo>
                  <a:pt x="390838" y="0"/>
                </a:lnTo>
                <a:lnTo>
                  <a:pt x="390838" y="390838"/>
                </a:lnTo>
                <a:lnTo>
                  <a:pt x="0" y="3908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10800000">
            <a:off x="-3243882" y="-5350612"/>
            <a:ext cx="8545164" cy="8545164"/>
          </a:xfrm>
          <a:custGeom>
            <a:avLst/>
            <a:gdLst/>
            <a:ahLst/>
            <a:cxnLst/>
            <a:rect r="r" b="b" t="t" l="l"/>
            <a:pathLst>
              <a:path h="8545164" w="8545164">
                <a:moveTo>
                  <a:pt x="0" y="0"/>
                </a:moveTo>
                <a:lnTo>
                  <a:pt x="8545164" y="0"/>
                </a:lnTo>
                <a:lnTo>
                  <a:pt x="8545164" y="8545164"/>
                </a:lnTo>
                <a:lnTo>
                  <a:pt x="0" y="85451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10800000">
            <a:off x="-2186549" y="-4305382"/>
            <a:ext cx="6430498" cy="6454704"/>
          </a:xfrm>
          <a:custGeom>
            <a:avLst/>
            <a:gdLst/>
            <a:ahLst/>
            <a:cxnLst/>
            <a:rect r="r" b="b" t="t" l="l"/>
            <a:pathLst>
              <a:path h="6454704" w="6430498">
                <a:moveTo>
                  <a:pt x="0" y="0"/>
                </a:moveTo>
                <a:lnTo>
                  <a:pt x="6430498" y="0"/>
                </a:lnTo>
                <a:lnTo>
                  <a:pt x="6430498" y="6454704"/>
                </a:lnTo>
                <a:lnTo>
                  <a:pt x="0" y="6454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9" id="29"/>
          <p:cNvSpPr/>
          <p:nvPr/>
        </p:nvSpPr>
        <p:spPr>
          <a:xfrm flipH="false" flipV="false" rot="-4563786">
            <a:off x="15209915" y="1053048"/>
            <a:ext cx="909355" cy="1993107"/>
          </a:xfrm>
          <a:custGeom>
            <a:avLst/>
            <a:gdLst/>
            <a:ahLst/>
            <a:cxnLst/>
            <a:rect r="r" b="b" t="t" l="l"/>
            <a:pathLst>
              <a:path h="1993107" w="909355">
                <a:moveTo>
                  <a:pt x="0" y="0"/>
                </a:moveTo>
                <a:lnTo>
                  <a:pt x="909355" y="0"/>
                </a:lnTo>
                <a:lnTo>
                  <a:pt x="909355" y="1993108"/>
                </a:lnTo>
                <a:lnTo>
                  <a:pt x="0" y="1993108"/>
                </a:lnTo>
                <a:lnTo>
                  <a:pt x="0" y="0"/>
                </a:lnTo>
                <a:close/>
              </a:path>
            </a:pathLst>
          </a:custGeom>
          <a:blipFill>
            <a:blip r:embed="rId8">
              <a:alphaModFix amt="25000"/>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30" id="30"/>
          <p:cNvSpPr txBox="true"/>
          <p:nvPr/>
        </p:nvSpPr>
        <p:spPr>
          <a:xfrm rot="0">
            <a:off x="2339507" y="3579899"/>
            <a:ext cx="1904442" cy="739019"/>
          </a:xfrm>
          <a:prstGeom prst="rect">
            <a:avLst/>
          </a:prstGeom>
        </p:spPr>
        <p:txBody>
          <a:bodyPr anchor="t" rtlCol="false" tIns="0" lIns="0" bIns="0" rIns="0">
            <a:spAutoFit/>
          </a:bodyPr>
          <a:lstStyle/>
          <a:p>
            <a:pPr algn="ctr">
              <a:lnSpc>
                <a:spcPts val="5599"/>
              </a:lnSpc>
              <a:spcBef>
                <a:spcPct val="0"/>
              </a:spcBef>
            </a:pPr>
            <a:r>
              <a:rPr lang="en-US" b="true" sz="3999" spc="-199">
                <a:solidFill>
                  <a:srgbClr val="FFFFFF"/>
                </a:solidFill>
                <a:latin typeface="Helvetica World Bold"/>
                <a:ea typeface="Helvetica World Bold"/>
                <a:cs typeface="Helvetica World Bold"/>
                <a:sym typeface="Helvetica World Bold"/>
              </a:rPr>
              <a:t>PANDAS</a:t>
            </a:r>
          </a:p>
        </p:txBody>
      </p:sp>
      <p:sp>
        <p:nvSpPr>
          <p:cNvPr name="TextBox 31" id="31"/>
          <p:cNvSpPr txBox="true"/>
          <p:nvPr/>
        </p:nvSpPr>
        <p:spPr>
          <a:xfrm rot="0">
            <a:off x="7285391" y="3579899"/>
            <a:ext cx="2924845" cy="739019"/>
          </a:xfrm>
          <a:prstGeom prst="rect">
            <a:avLst/>
          </a:prstGeom>
        </p:spPr>
        <p:txBody>
          <a:bodyPr anchor="t" rtlCol="false" tIns="0" lIns="0" bIns="0" rIns="0">
            <a:spAutoFit/>
          </a:bodyPr>
          <a:lstStyle/>
          <a:p>
            <a:pPr algn="ctr">
              <a:lnSpc>
                <a:spcPts val="5599"/>
              </a:lnSpc>
              <a:spcBef>
                <a:spcPct val="0"/>
              </a:spcBef>
            </a:pPr>
            <a:r>
              <a:rPr lang="en-US" b="true" sz="3999" spc="-199">
                <a:solidFill>
                  <a:srgbClr val="FFFFFF"/>
                </a:solidFill>
                <a:latin typeface="Helvetica World Bold"/>
                <a:ea typeface="Helvetica World Bold"/>
                <a:cs typeface="Helvetica World Bold"/>
                <a:sym typeface="Helvetica World Bold"/>
              </a:rPr>
              <a:t>MATPLOTLIB</a:t>
            </a:r>
          </a:p>
        </p:txBody>
      </p:sp>
      <p:sp>
        <p:nvSpPr>
          <p:cNvPr name="TextBox 32" id="32"/>
          <p:cNvSpPr txBox="true"/>
          <p:nvPr/>
        </p:nvSpPr>
        <p:spPr>
          <a:xfrm rot="0">
            <a:off x="13417332" y="3579899"/>
            <a:ext cx="2341066" cy="739019"/>
          </a:xfrm>
          <a:prstGeom prst="rect">
            <a:avLst/>
          </a:prstGeom>
        </p:spPr>
        <p:txBody>
          <a:bodyPr anchor="t" rtlCol="false" tIns="0" lIns="0" bIns="0" rIns="0">
            <a:spAutoFit/>
          </a:bodyPr>
          <a:lstStyle/>
          <a:p>
            <a:pPr algn="ctr">
              <a:lnSpc>
                <a:spcPts val="5599"/>
              </a:lnSpc>
              <a:spcBef>
                <a:spcPct val="0"/>
              </a:spcBef>
            </a:pPr>
            <a:r>
              <a:rPr lang="en-US" b="true" sz="3999" spc="-199">
                <a:solidFill>
                  <a:srgbClr val="FFFFFF"/>
                </a:solidFill>
                <a:latin typeface="Helvetica World Bold"/>
                <a:ea typeface="Helvetica World Bold"/>
                <a:cs typeface="Helvetica World Bold"/>
                <a:sym typeface="Helvetica World Bold"/>
              </a:rPr>
              <a:t>SEABORN</a:t>
            </a:r>
          </a:p>
        </p:txBody>
      </p:sp>
      <p:sp>
        <p:nvSpPr>
          <p:cNvPr name="TextBox 33" id="33"/>
          <p:cNvSpPr txBox="true"/>
          <p:nvPr/>
        </p:nvSpPr>
        <p:spPr>
          <a:xfrm rot="0">
            <a:off x="2194198" y="4938043"/>
            <a:ext cx="2569546" cy="1869926"/>
          </a:xfrm>
          <a:prstGeom prst="rect">
            <a:avLst/>
          </a:prstGeom>
        </p:spPr>
        <p:txBody>
          <a:bodyPr anchor="t" rtlCol="false" tIns="0" lIns="0" bIns="0" rIns="0">
            <a:spAutoFit/>
          </a:bodyPr>
          <a:lstStyle/>
          <a:p>
            <a:pPr algn="ctr">
              <a:lnSpc>
                <a:spcPts val="3499"/>
              </a:lnSpc>
              <a:spcBef>
                <a:spcPct val="0"/>
              </a:spcBef>
            </a:pPr>
            <a:r>
              <a:rPr lang="en-US" b="true" sz="2499" spc="-124">
                <a:solidFill>
                  <a:srgbClr val="FFFFFF"/>
                </a:solidFill>
                <a:latin typeface="Helvetica World Bold"/>
                <a:ea typeface="Helvetica World Bold"/>
                <a:cs typeface="Helvetica World Bold"/>
                <a:sym typeface="Helvetica World Bold"/>
              </a:rPr>
              <a:t>Used for data loading, cleaning, transformation, and grouping.</a:t>
            </a:r>
          </a:p>
        </p:txBody>
      </p:sp>
      <p:sp>
        <p:nvSpPr>
          <p:cNvPr name="TextBox 34" id="34"/>
          <p:cNvSpPr txBox="true"/>
          <p:nvPr/>
        </p:nvSpPr>
        <p:spPr>
          <a:xfrm rot="0">
            <a:off x="6974066" y="5105400"/>
            <a:ext cx="3655473" cy="1396095"/>
          </a:xfrm>
          <a:prstGeom prst="rect">
            <a:avLst/>
          </a:prstGeom>
        </p:spPr>
        <p:txBody>
          <a:bodyPr anchor="t" rtlCol="false" tIns="0" lIns="0" bIns="0" rIns="0">
            <a:spAutoFit/>
          </a:bodyPr>
          <a:lstStyle/>
          <a:p>
            <a:pPr algn="ctr">
              <a:lnSpc>
                <a:spcPts val="3499"/>
              </a:lnSpc>
              <a:spcBef>
                <a:spcPct val="0"/>
              </a:spcBef>
            </a:pPr>
            <a:r>
              <a:rPr lang="en-US" b="true" sz="2499" spc="-124">
                <a:solidFill>
                  <a:srgbClr val="FFFFFF"/>
                </a:solidFill>
                <a:latin typeface="Helvetica World Bold"/>
                <a:ea typeface="Helvetica World Bold"/>
                <a:cs typeface="Helvetica World Bold"/>
                <a:sym typeface="Helvetica World Bold"/>
              </a:rPr>
              <a:t>Used to create custom plots like bar charts and line graphs.</a:t>
            </a:r>
          </a:p>
        </p:txBody>
      </p:sp>
      <p:sp>
        <p:nvSpPr>
          <p:cNvPr name="TextBox 35" id="35"/>
          <p:cNvSpPr txBox="true"/>
          <p:nvPr/>
        </p:nvSpPr>
        <p:spPr>
          <a:xfrm rot="0">
            <a:off x="12587535" y="5105400"/>
            <a:ext cx="4000661" cy="1869926"/>
          </a:xfrm>
          <a:prstGeom prst="rect">
            <a:avLst/>
          </a:prstGeom>
        </p:spPr>
        <p:txBody>
          <a:bodyPr anchor="t" rtlCol="false" tIns="0" lIns="0" bIns="0" rIns="0">
            <a:spAutoFit/>
          </a:bodyPr>
          <a:lstStyle/>
          <a:p>
            <a:pPr algn="ctr">
              <a:lnSpc>
                <a:spcPts val="3499"/>
              </a:lnSpc>
              <a:spcBef>
                <a:spcPct val="0"/>
              </a:spcBef>
            </a:pPr>
            <a:r>
              <a:rPr lang="en-US" b="true" sz="2499" spc="-124">
                <a:solidFill>
                  <a:srgbClr val="FFFFFF"/>
                </a:solidFill>
                <a:latin typeface="Helvetica World Bold"/>
                <a:ea typeface="Helvetica World Bold"/>
                <a:cs typeface="Helvetica World Bold"/>
                <a:sym typeface="Helvetica World Bold"/>
              </a:rPr>
              <a:t>Used for advanced and attractive statistical visualizations like box plots and heatmaps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62C3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394260" y="3468495"/>
            <a:ext cx="7498479" cy="892737"/>
            <a:chOff x="0" y="0"/>
            <a:chExt cx="1974908" cy="235124"/>
          </a:xfrm>
        </p:grpSpPr>
        <p:sp>
          <p:nvSpPr>
            <p:cNvPr name="Freeform 7" id="7"/>
            <p:cNvSpPr/>
            <p:nvPr/>
          </p:nvSpPr>
          <p:spPr>
            <a:xfrm flipH="false" flipV="false" rot="0">
              <a:off x="0" y="0"/>
              <a:ext cx="1974908" cy="235124"/>
            </a:xfrm>
            <a:custGeom>
              <a:avLst/>
              <a:gdLst/>
              <a:ahLst/>
              <a:cxnLst/>
              <a:rect r="r" b="b" t="t" l="l"/>
              <a:pathLst>
                <a:path h="235124" w="1974908">
                  <a:moveTo>
                    <a:pt x="52656" y="0"/>
                  </a:moveTo>
                  <a:lnTo>
                    <a:pt x="1922252" y="0"/>
                  </a:lnTo>
                  <a:cubicBezTo>
                    <a:pt x="1936218" y="0"/>
                    <a:pt x="1949611" y="5548"/>
                    <a:pt x="1959486" y="15423"/>
                  </a:cubicBezTo>
                  <a:cubicBezTo>
                    <a:pt x="1969360" y="25297"/>
                    <a:pt x="1974908" y="38691"/>
                    <a:pt x="1974908" y="52656"/>
                  </a:cubicBezTo>
                  <a:lnTo>
                    <a:pt x="1974908" y="182468"/>
                  </a:lnTo>
                  <a:cubicBezTo>
                    <a:pt x="1974908" y="196434"/>
                    <a:pt x="1969360" y="209827"/>
                    <a:pt x="1959486" y="219702"/>
                  </a:cubicBezTo>
                  <a:cubicBezTo>
                    <a:pt x="1949611" y="229577"/>
                    <a:pt x="1936218" y="235124"/>
                    <a:pt x="1922252" y="235124"/>
                  </a:cubicBezTo>
                  <a:lnTo>
                    <a:pt x="52656" y="235124"/>
                  </a:lnTo>
                  <a:cubicBezTo>
                    <a:pt x="38691" y="235124"/>
                    <a:pt x="25297" y="229577"/>
                    <a:pt x="15423" y="219702"/>
                  </a:cubicBezTo>
                  <a:cubicBezTo>
                    <a:pt x="5548" y="209827"/>
                    <a:pt x="0" y="196434"/>
                    <a:pt x="0" y="182468"/>
                  </a:cubicBezTo>
                  <a:lnTo>
                    <a:pt x="0" y="52656"/>
                  </a:lnTo>
                  <a:cubicBezTo>
                    <a:pt x="0" y="38691"/>
                    <a:pt x="5548" y="25297"/>
                    <a:pt x="15423" y="15423"/>
                  </a:cubicBezTo>
                  <a:cubicBezTo>
                    <a:pt x="25297" y="5548"/>
                    <a:pt x="38691" y="0"/>
                    <a:pt x="52656" y="0"/>
                  </a:cubicBezTo>
                  <a:close/>
                </a:path>
              </a:pathLst>
            </a:custGeom>
            <a:solidFill>
              <a:srgbClr val="DDCCC5"/>
            </a:solidFill>
          </p:spPr>
        </p:sp>
        <p:sp>
          <p:nvSpPr>
            <p:cNvPr name="TextBox 8" id="8"/>
            <p:cNvSpPr txBox="true"/>
            <p:nvPr/>
          </p:nvSpPr>
          <p:spPr>
            <a:xfrm>
              <a:off x="0" y="-38100"/>
              <a:ext cx="1974908" cy="27322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94260" y="4558763"/>
            <a:ext cx="7498479" cy="892737"/>
            <a:chOff x="0" y="0"/>
            <a:chExt cx="1974908" cy="235124"/>
          </a:xfrm>
        </p:grpSpPr>
        <p:sp>
          <p:nvSpPr>
            <p:cNvPr name="Freeform 10" id="10"/>
            <p:cNvSpPr/>
            <p:nvPr/>
          </p:nvSpPr>
          <p:spPr>
            <a:xfrm flipH="false" flipV="false" rot="0">
              <a:off x="0" y="0"/>
              <a:ext cx="1974908" cy="235124"/>
            </a:xfrm>
            <a:custGeom>
              <a:avLst/>
              <a:gdLst/>
              <a:ahLst/>
              <a:cxnLst/>
              <a:rect r="r" b="b" t="t" l="l"/>
              <a:pathLst>
                <a:path h="235124" w="1974908">
                  <a:moveTo>
                    <a:pt x="52656" y="0"/>
                  </a:moveTo>
                  <a:lnTo>
                    <a:pt x="1922252" y="0"/>
                  </a:lnTo>
                  <a:cubicBezTo>
                    <a:pt x="1936218" y="0"/>
                    <a:pt x="1949611" y="5548"/>
                    <a:pt x="1959486" y="15423"/>
                  </a:cubicBezTo>
                  <a:cubicBezTo>
                    <a:pt x="1969360" y="25297"/>
                    <a:pt x="1974908" y="38691"/>
                    <a:pt x="1974908" y="52656"/>
                  </a:cubicBezTo>
                  <a:lnTo>
                    <a:pt x="1974908" y="182468"/>
                  </a:lnTo>
                  <a:cubicBezTo>
                    <a:pt x="1974908" y="196434"/>
                    <a:pt x="1969360" y="209827"/>
                    <a:pt x="1959486" y="219702"/>
                  </a:cubicBezTo>
                  <a:cubicBezTo>
                    <a:pt x="1949611" y="229577"/>
                    <a:pt x="1936218" y="235124"/>
                    <a:pt x="1922252" y="235124"/>
                  </a:cubicBezTo>
                  <a:lnTo>
                    <a:pt x="52656" y="235124"/>
                  </a:lnTo>
                  <a:cubicBezTo>
                    <a:pt x="38691" y="235124"/>
                    <a:pt x="25297" y="229577"/>
                    <a:pt x="15423" y="219702"/>
                  </a:cubicBezTo>
                  <a:cubicBezTo>
                    <a:pt x="5548" y="209827"/>
                    <a:pt x="0" y="196434"/>
                    <a:pt x="0" y="182468"/>
                  </a:cubicBezTo>
                  <a:lnTo>
                    <a:pt x="0" y="52656"/>
                  </a:lnTo>
                  <a:cubicBezTo>
                    <a:pt x="0" y="38691"/>
                    <a:pt x="5548" y="25297"/>
                    <a:pt x="15423" y="15423"/>
                  </a:cubicBezTo>
                  <a:cubicBezTo>
                    <a:pt x="25297" y="5548"/>
                    <a:pt x="38691" y="0"/>
                    <a:pt x="52656" y="0"/>
                  </a:cubicBezTo>
                  <a:close/>
                </a:path>
              </a:pathLst>
            </a:custGeom>
            <a:solidFill>
              <a:srgbClr val="DDCCC5"/>
            </a:solidFill>
          </p:spPr>
        </p:sp>
        <p:sp>
          <p:nvSpPr>
            <p:cNvPr name="TextBox 11" id="11"/>
            <p:cNvSpPr txBox="true"/>
            <p:nvPr/>
          </p:nvSpPr>
          <p:spPr>
            <a:xfrm>
              <a:off x="0" y="-38100"/>
              <a:ext cx="1974908" cy="27322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94260" y="5651525"/>
            <a:ext cx="7498479" cy="892737"/>
            <a:chOff x="0" y="0"/>
            <a:chExt cx="1974908" cy="235124"/>
          </a:xfrm>
        </p:grpSpPr>
        <p:sp>
          <p:nvSpPr>
            <p:cNvPr name="Freeform 13" id="13"/>
            <p:cNvSpPr/>
            <p:nvPr/>
          </p:nvSpPr>
          <p:spPr>
            <a:xfrm flipH="false" flipV="false" rot="0">
              <a:off x="0" y="0"/>
              <a:ext cx="1974908" cy="235124"/>
            </a:xfrm>
            <a:custGeom>
              <a:avLst/>
              <a:gdLst/>
              <a:ahLst/>
              <a:cxnLst/>
              <a:rect r="r" b="b" t="t" l="l"/>
              <a:pathLst>
                <a:path h="235124" w="1974908">
                  <a:moveTo>
                    <a:pt x="52656" y="0"/>
                  </a:moveTo>
                  <a:lnTo>
                    <a:pt x="1922252" y="0"/>
                  </a:lnTo>
                  <a:cubicBezTo>
                    <a:pt x="1936218" y="0"/>
                    <a:pt x="1949611" y="5548"/>
                    <a:pt x="1959486" y="15423"/>
                  </a:cubicBezTo>
                  <a:cubicBezTo>
                    <a:pt x="1969360" y="25297"/>
                    <a:pt x="1974908" y="38691"/>
                    <a:pt x="1974908" y="52656"/>
                  </a:cubicBezTo>
                  <a:lnTo>
                    <a:pt x="1974908" y="182468"/>
                  </a:lnTo>
                  <a:cubicBezTo>
                    <a:pt x="1974908" y="196434"/>
                    <a:pt x="1969360" y="209827"/>
                    <a:pt x="1959486" y="219702"/>
                  </a:cubicBezTo>
                  <a:cubicBezTo>
                    <a:pt x="1949611" y="229577"/>
                    <a:pt x="1936218" y="235124"/>
                    <a:pt x="1922252" y="235124"/>
                  </a:cubicBezTo>
                  <a:lnTo>
                    <a:pt x="52656" y="235124"/>
                  </a:lnTo>
                  <a:cubicBezTo>
                    <a:pt x="38691" y="235124"/>
                    <a:pt x="25297" y="229577"/>
                    <a:pt x="15423" y="219702"/>
                  </a:cubicBezTo>
                  <a:cubicBezTo>
                    <a:pt x="5548" y="209827"/>
                    <a:pt x="0" y="196434"/>
                    <a:pt x="0" y="182468"/>
                  </a:cubicBezTo>
                  <a:lnTo>
                    <a:pt x="0" y="52656"/>
                  </a:lnTo>
                  <a:cubicBezTo>
                    <a:pt x="0" y="38691"/>
                    <a:pt x="5548" y="25297"/>
                    <a:pt x="15423" y="15423"/>
                  </a:cubicBezTo>
                  <a:cubicBezTo>
                    <a:pt x="25297" y="5548"/>
                    <a:pt x="38691" y="0"/>
                    <a:pt x="52656" y="0"/>
                  </a:cubicBezTo>
                  <a:close/>
                </a:path>
              </a:pathLst>
            </a:custGeom>
            <a:solidFill>
              <a:srgbClr val="DDCCC5"/>
            </a:solidFill>
          </p:spPr>
        </p:sp>
        <p:sp>
          <p:nvSpPr>
            <p:cNvPr name="TextBox 14" id="14"/>
            <p:cNvSpPr txBox="true"/>
            <p:nvPr/>
          </p:nvSpPr>
          <p:spPr>
            <a:xfrm>
              <a:off x="0" y="-38100"/>
              <a:ext cx="1974908" cy="27322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394260" y="6744288"/>
            <a:ext cx="7498479" cy="892737"/>
            <a:chOff x="0" y="0"/>
            <a:chExt cx="1974908" cy="235124"/>
          </a:xfrm>
        </p:grpSpPr>
        <p:sp>
          <p:nvSpPr>
            <p:cNvPr name="Freeform 16" id="16"/>
            <p:cNvSpPr/>
            <p:nvPr/>
          </p:nvSpPr>
          <p:spPr>
            <a:xfrm flipH="false" flipV="false" rot="0">
              <a:off x="0" y="0"/>
              <a:ext cx="1974908" cy="235124"/>
            </a:xfrm>
            <a:custGeom>
              <a:avLst/>
              <a:gdLst/>
              <a:ahLst/>
              <a:cxnLst/>
              <a:rect r="r" b="b" t="t" l="l"/>
              <a:pathLst>
                <a:path h="235124" w="1974908">
                  <a:moveTo>
                    <a:pt x="52656" y="0"/>
                  </a:moveTo>
                  <a:lnTo>
                    <a:pt x="1922252" y="0"/>
                  </a:lnTo>
                  <a:cubicBezTo>
                    <a:pt x="1936218" y="0"/>
                    <a:pt x="1949611" y="5548"/>
                    <a:pt x="1959486" y="15423"/>
                  </a:cubicBezTo>
                  <a:cubicBezTo>
                    <a:pt x="1969360" y="25297"/>
                    <a:pt x="1974908" y="38691"/>
                    <a:pt x="1974908" y="52656"/>
                  </a:cubicBezTo>
                  <a:lnTo>
                    <a:pt x="1974908" y="182468"/>
                  </a:lnTo>
                  <a:cubicBezTo>
                    <a:pt x="1974908" y="196434"/>
                    <a:pt x="1969360" y="209827"/>
                    <a:pt x="1959486" y="219702"/>
                  </a:cubicBezTo>
                  <a:cubicBezTo>
                    <a:pt x="1949611" y="229577"/>
                    <a:pt x="1936218" y="235124"/>
                    <a:pt x="1922252" y="235124"/>
                  </a:cubicBezTo>
                  <a:lnTo>
                    <a:pt x="52656" y="235124"/>
                  </a:lnTo>
                  <a:cubicBezTo>
                    <a:pt x="38691" y="235124"/>
                    <a:pt x="25297" y="229577"/>
                    <a:pt x="15423" y="219702"/>
                  </a:cubicBezTo>
                  <a:cubicBezTo>
                    <a:pt x="5548" y="209827"/>
                    <a:pt x="0" y="196434"/>
                    <a:pt x="0" y="182468"/>
                  </a:cubicBezTo>
                  <a:lnTo>
                    <a:pt x="0" y="52656"/>
                  </a:lnTo>
                  <a:cubicBezTo>
                    <a:pt x="0" y="38691"/>
                    <a:pt x="5548" y="25297"/>
                    <a:pt x="15423" y="15423"/>
                  </a:cubicBezTo>
                  <a:cubicBezTo>
                    <a:pt x="25297" y="5548"/>
                    <a:pt x="38691" y="0"/>
                    <a:pt x="52656" y="0"/>
                  </a:cubicBezTo>
                  <a:close/>
                </a:path>
              </a:pathLst>
            </a:custGeom>
            <a:solidFill>
              <a:srgbClr val="DDCCC5"/>
            </a:solidFill>
          </p:spPr>
        </p:sp>
        <p:sp>
          <p:nvSpPr>
            <p:cNvPr name="TextBox 17" id="17"/>
            <p:cNvSpPr txBox="true"/>
            <p:nvPr/>
          </p:nvSpPr>
          <p:spPr>
            <a:xfrm>
              <a:off x="0" y="-38100"/>
              <a:ext cx="1974908" cy="273224"/>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94260" y="7913250"/>
            <a:ext cx="8258331" cy="892737"/>
            <a:chOff x="0" y="0"/>
            <a:chExt cx="2175034" cy="235124"/>
          </a:xfrm>
        </p:grpSpPr>
        <p:sp>
          <p:nvSpPr>
            <p:cNvPr name="Freeform 19" id="19"/>
            <p:cNvSpPr/>
            <p:nvPr/>
          </p:nvSpPr>
          <p:spPr>
            <a:xfrm flipH="false" flipV="false" rot="0">
              <a:off x="0" y="0"/>
              <a:ext cx="2175034" cy="235124"/>
            </a:xfrm>
            <a:custGeom>
              <a:avLst/>
              <a:gdLst/>
              <a:ahLst/>
              <a:cxnLst/>
              <a:rect r="r" b="b" t="t" l="l"/>
              <a:pathLst>
                <a:path h="235124" w="2175034">
                  <a:moveTo>
                    <a:pt x="47811" y="0"/>
                  </a:moveTo>
                  <a:lnTo>
                    <a:pt x="2127223" y="0"/>
                  </a:lnTo>
                  <a:cubicBezTo>
                    <a:pt x="2139903" y="0"/>
                    <a:pt x="2152064" y="5037"/>
                    <a:pt x="2161030" y="14003"/>
                  </a:cubicBezTo>
                  <a:cubicBezTo>
                    <a:pt x="2169996" y="22970"/>
                    <a:pt x="2175034" y="35131"/>
                    <a:pt x="2175034" y="47811"/>
                  </a:cubicBezTo>
                  <a:lnTo>
                    <a:pt x="2175034" y="187313"/>
                  </a:lnTo>
                  <a:cubicBezTo>
                    <a:pt x="2175034" y="213719"/>
                    <a:pt x="2153628" y="235124"/>
                    <a:pt x="2127223" y="235124"/>
                  </a:cubicBezTo>
                  <a:lnTo>
                    <a:pt x="47811" y="235124"/>
                  </a:lnTo>
                  <a:cubicBezTo>
                    <a:pt x="35131" y="235124"/>
                    <a:pt x="22970" y="230087"/>
                    <a:pt x="14003" y="221121"/>
                  </a:cubicBezTo>
                  <a:cubicBezTo>
                    <a:pt x="5037" y="212154"/>
                    <a:pt x="0" y="199994"/>
                    <a:pt x="0" y="187313"/>
                  </a:cubicBezTo>
                  <a:lnTo>
                    <a:pt x="0" y="47811"/>
                  </a:lnTo>
                  <a:cubicBezTo>
                    <a:pt x="0" y="35131"/>
                    <a:pt x="5037" y="22970"/>
                    <a:pt x="14003" y="14003"/>
                  </a:cubicBezTo>
                  <a:cubicBezTo>
                    <a:pt x="22970" y="5037"/>
                    <a:pt x="35131" y="0"/>
                    <a:pt x="47811" y="0"/>
                  </a:cubicBezTo>
                  <a:close/>
                </a:path>
              </a:pathLst>
            </a:custGeom>
            <a:solidFill>
              <a:srgbClr val="DDCCC5"/>
            </a:solidFill>
          </p:spPr>
        </p:sp>
        <p:sp>
          <p:nvSpPr>
            <p:cNvPr name="TextBox 20" id="20"/>
            <p:cNvSpPr txBox="true"/>
            <p:nvPr/>
          </p:nvSpPr>
          <p:spPr>
            <a:xfrm>
              <a:off x="0" y="-38100"/>
              <a:ext cx="2175034" cy="273224"/>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1492702" y="3542249"/>
            <a:ext cx="745230" cy="738817"/>
            <a:chOff x="0" y="0"/>
            <a:chExt cx="235124" cy="233101"/>
          </a:xfrm>
        </p:grpSpPr>
        <p:sp>
          <p:nvSpPr>
            <p:cNvPr name="Freeform 22" id="22"/>
            <p:cNvSpPr/>
            <p:nvPr/>
          </p:nvSpPr>
          <p:spPr>
            <a:xfrm flipH="false" flipV="false" rot="0">
              <a:off x="0" y="0"/>
              <a:ext cx="235124" cy="233101"/>
            </a:xfrm>
            <a:custGeom>
              <a:avLst/>
              <a:gdLst/>
              <a:ahLst/>
              <a:cxnLst/>
              <a:rect r="r" b="b" t="t" l="l"/>
              <a:pathLst>
                <a:path h="233101" w="235124">
                  <a:moveTo>
                    <a:pt x="116550" y="0"/>
                  </a:moveTo>
                  <a:lnTo>
                    <a:pt x="118574" y="0"/>
                  </a:lnTo>
                  <a:cubicBezTo>
                    <a:pt x="182943" y="0"/>
                    <a:pt x="235124" y="52181"/>
                    <a:pt x="235124" y="116550"/>
                  </a:cubicBezTo>
                  <a:lnTo>
                    <a:pt x="235124" y="116550"/>
                  </a:lnTo>
                  <a:cubicBezTo>
                    <a:pt x="235124" y="180919"/>
                    <a:pt x="182943" y="233101"/>
                    <a:pt x="118574" y="233101"/>
                  </a:cubicBezTo>
                  <a:lnTo>
                    <a:pt x="116550" y="233101"/>
                  </a:lnTo>
                  <a:cubicBezTo>
                    <a:pt x="52181" y="233101"/>
                    <a:pt x="0" y="180919"/>
                    <a:pt x="0" y="116550"/>
                  </a:cubicBezTo>
                  <a:lnTo>
                    <a:pt x="0" y="116550"/>
                  </a:lnTo>
                  <a:cubicBezTo>
                    <a:pt x="0" y="52181"/>
                    <a:pt x="52181" y="0"/>
                    <a:pt x="116550" y="0"/>
                  </a:cubicBezTo>
                  <a:close/>
                </a:path>
              </a:pathLst>
            </a:custGeom>
            <a:solidFill>
              <a:srgbClr val="EADACD"/>
            </a:solidFill>
          </p:spPr>
        </p:sp>
        <p:sp>
          <p:nvSpPr>
            <p:cNvPr name="TextBox 23" id="23"/>
            <p:cNvSpPr txBox="true"/>
            <p:nvPr/>
          </p:nvSpPr>
          <p:spPr>
            <a:xfrm>
              <a:off x="0" y="-47625"/>
              <a:ext cx="235124" cy="280726"/>
            </a:xfrm>
            <a:prstGeom prst="rect">
              <a:avLst/>
            </a:prstGeom>
          </p:spPr>
          <p:txBody>
            <a:bodyPr anchor="ctr" rtlCol="false" tIns="50800" lIns="50800" bIns="50800" rIns="50800"/>
            <a:lstStyle/>
            <a:p>
              <a:pPr algn="ctr">
                <a:lnSpc>
                  <a:spcPts val="3079"/>
                </a:lnSpc>
                <a:spcBef>
                  <a:spcPct val="0"/>
                </a:spcBef>
              </a:pPr>
              <a:r>
                <a:rPr lang="en-US" sz="2199">
                  <a:solidFill>
                    <a:srgbClr val="D48B64"/>
                  </a:solidFill>
                  <a:latin typeface="Belleza"/>
                  <a:ea typeface="Belleza"/>
                  <a:cs typeface="Belleza"/>
                  <a:sym typeface="Belleza"/>
                </a:rPr>
                <a:t>1</a:t>
              </a:r>
            </a:p>
          </p:txBody>
        </p:sp>
      </p:grpSp>
      <p:grpSp>
        <p:nvGrpSpPr>
          <p:cNvPr name="Group 24" id="24"/>
          <p:cNvGrpSpPr/>
          <p:nvPr/>
        </p:nvGrpSpPr>
        <p:grpSpPr>
          <a:xfrm rot="0">
            <a:off x="1492702" y="4632517"/>
            <a:ext cx="745230" cy="738817"/>
            <a:chOff x="0" y="0"/>
            <a:chExt cx="235124" cy="233101"/>
          </a:xfrm>
        </p:grpSpPr>
        <p:sp>
          <p:nvSpPr>
            <p:cNvPr name="Freeform 25" id="25"/>
            <p:cNvSpPr/>
            <p:nvPr/>
          </p:nvSpPr>
          <p:spPr>
            <a:xfrm flipH="false" flipV="false" rot="0">
              <a:off x="0" y="0"/>
              <a:ext cx="235124" cy="233101"/>
            </a:xfrm>
            <a:custGeom>
              <a:avLst/>
              <a:gdLst/>
              <a:ahLst/>
              <a:cxnLst/>
              <a:rect r="r" b="b" t="t" l="l"/>
              <a:pathLst>
                <a:path h="233101" w="235124">
                  <a:moveTo>
                    <a:pt x="116550" y="0"/>
                  </a:moveTo>
                  <a:lnTo>
                    <a:pt x="118574" y="0"/>
                  </a:lnTo>
                  <a:cubicBezTo>
                    <a:pt x="182943" y="0"/>
                    <a:pt x="235124" y="52181"/>
                    <a:pt x="235124" y="116550"/>
                  </a:cubicBezTo>
                  <a:lnTo>
                    <a:pt x="235124" y="116550"/>
                  </a:lnTo>
                  <a:cubicBezTo>
                    <a:pt x="235124" y="180919"/>
                    <a:pt x="182943" y="233101"/>
                    <a:pt x="118574" y="233101"/>
                  </a:cubicBezTo>
                  <a:lnTo>
                    <a:pt x="116550" y="233101"/>
                  </a:lnTo>
                  <a:cubicBezTo>
                    <a:pt x="52181" y="233101"/>
                    <a:pt x="0" y="180919"/>
                    <a:pt x="0" y="116550"/>
                  </a:cubicBezTo>
                  <a:lnTo>
                    <a:pt x="0" y="116550"/>
                  </a:lnTo>
                  <a:cubicBezTo>
                    <a:pt x="0" y="52181"/>
                    <a:pt x="52181" y="0"/>
                    <a:pt x="116550" y="0"/>
                  </a:cubicBezTo>
                  <a:close/>
                </a:path>
              </a:pathLst>
            </a:custGeom>
            <a:solidFill>
              <a:srgbClr val="EADACD"/>
            </a:solidFill>
          </p:spPr>
        </p:sp>
        <p:sp>
          <p:nvSpPr>
            <p:cNvPr name="TextBox 26" id="26"/>
            <p:cNvSpPr txBox="true"/>
            <p:nvPr/>
          </p:nvSpPr>
          <p:spPr>
            <a:xfrm>
              <a:off x="0" y="-47625"/>
              <a:ext cx="235124" cy="280726"/>
            </a:xfrm>
            <a:prstGeom prst="rect">
              <a:avLst/>
            </a:prstGeom>
          </p:spPr>
          <p:txBody>
            <a:bodyPr anchor="ctr" rtlCol="false" tIns="50800" lIns="50800" bIns="50800" rIns="50800"/>
            <a:lstStyle/>
            <a:p>
              <a:pPr algn="ctr">
                <a:lnSpc>
                  <a:spcPts val="3079"/>
                </a:lnSpc>
                <a:spcBef>
                  <a:spcPct val="0"/>
                </a:spcBef>
              </a:pPr>
              <a:r>
                <a:rPr lang="en-US" sz="2199">
                  <a:solidFill>
                    <a:srgbClr val="D48B64"/>
                  </a:solidFill>
                  <a:latin typeface="Belleza"/>
                  <a:ea typeface="Belleza"/>
                  <a:cs typeface="Belleza"/>
                  <a:sym typeface="Belleza"/>
                </a:rPr>
                <a:t>2</a:t>
              </a:r>
            </a:p>
          </p:txBody>
        </p:sp>
      </p:grpSp>
      <p:grpSp>
        <p:nvGrpSpPr>
          <p:cNvPr name="Group 27" id="27"/>
          <p:cNvGrpSpPr/>
          <p:nvPr/>
        </p:nvGrpSpPr>
        <p:grpSpPr>
          <a:xfrm rot="0">
            <a:off x="1492702" y="5725279"/>
            <a:ext cx="745230" cy="738817"/>
            <a:chOff x="0" y="0"/>
            <a:chExt cx="235124" cy="233101"/>
          </a:xfrm>
        </p:grpSpPr>
        <p:sp>
          <p:nvSpPr>
            <p:cNvPr name="Freeform 28" id="28"/>
            <p:cNvSpPr/>
            <p:nvPr/>
          </p:nvSpPr>
          <p:spPr>
            <a:xfrm flipH="false" flipV="false" rot="0">
              <a:off x="0" y="0"/>
              <a:ext cx="235124" cy="233101"/>
            </a:xfrm>
            <a:custGeom>
              <a:avLst/>
              <a:gdLst/>
              <a:ahLst/>
              <a:cxnLst/>
              <a:rect r="r" b="b" t="t" l="l"/>
              <a:pathLst>
                <a:path h="233101" w="235124">
                  <a:moveTo>
                    <a:pt x="116550" y="0"/>
                  </a:moveTo>
                  <a:lnTo>
                    <a:pt x="118574" y="0"/>
                  </a:lnTo>
                  <a:cubicBezTo>
                    <a:pt x="182943" y="0"/>
                    <a:pt x="235124" y="52181"/>
                    <a:pt x="235124" y="116550"/>
                  </a:cubicBezTo>
                  <a:lnTo>
                    <a:pt x="235124" y="116550"/>
                  </a:lnTo>
                  <a:cubicBezTo>
                    <a:pt x="235124" y="180919"/>
                    <a:pt x="182943" y="233101"/>
                    <a:pt x="118574" y="233101"/>
                  </a:cubicBezTo>
                  <a:lnTo>
                    <a:pt x="116550" y="233101"/>
                  </a:lnTo>
                  <a:cubicBezTo>
                    <a:pt x="52181" y="233101"/>
                    <a:pt x="0" y="180919"/>
                    <a:pt x="0" y="116550"/>
                  </a:cubicBezTo>
                  <a:lnTo>
                    <a:pt x="0" y="116550"/>
                  </a:lnTo>
                  <a:cubicBezTo>
                    <a:pt x="0" y="52181"/>
                    <a:pt x="52181" y="0"/>
                    <a:pt x="116550" y="0"/>
                  </a:cubicBezTo>
                  <a:close/>
                </a:path>
              </a:pathLst>
            </a:custGeom>
            <a:solidFill>
              <a:srgbClr val="EADACD"/>
            </a:solidFill>
          </p:spPr>
        </p:sp>
        <p:sp>
          <p:nvSpPr>
            <p:cNvPr name="TextBox 29" id="29"/>
            <p:cNvSpPr txBox="true"/>
            <p:nvPr/>
          </p:nvSpPr>
          <p:spPr>
            <a:xfrm>
              <a:off x="0" y="-47625"/>
              <a:ext cx="235124" cy="280726"/>
            </a:xfrm>
            <a:prstGeom prst="rect">
              <a:avLst/>
            </a:prstGeom>
          </p:spPr>
          <p:txBody>
            <a:bodyPr anchor="ctr" rtlCol="false" tIns="50800" lIns="50800" bIns="50800" rIns="50800"/>
            <a:lstStyle/>
            <a:p>
              <a:pPr algn="ctr">
                <a:lnSpc>
                  <a:spcPts val="3079"/>
                </a:lnSpc>
                <a:spcBef>
                  <a:spcPct val="0"/>
                </a:spcBef>
              </a:pPr>
              <a:r>
                <a:rPr lang="en-US" sz="2199">
                  <a:solidFill>
                    <a:srgbClr val="D48B64"/>
                  </a:solidFill>
                  <a:latin typeface="Belleza"/>
                  <a:ea typeface="Belleza"/>
                  <a:cs typeface="Belleza"/>
                  <a:sym typeface="Belleza"/>
                </a:rPr>
                <a:t>3</a:t>
              </a:r>
            </a:p>
          </p:txBody>
        </p:sp>
      </p:grpSp>
      <p:grpSp>
        <p:nvGrpSpPr>
          <p:cNvPr name="Group 30" id="30"/>
          <p:cNvGrpSpPr/>
          <p:nvPr/>
        </p:nvGrpSpPr>
        <p:grpSpPr>
          <a:xfrm rot="0">
            <a:off x="1492702" y="6818041"/>
            <a:ext cx="745230" cy="738817"/>
            <a:chOff x="0" y="0"/>
            <a:chExt cx="235124" cy="233101"/>
          </a:xfrm>
        </p:grpSpPr>
        <p:sp>
          <p:nvSpPr>
            <p:cNvPr name="Freeform 31" id="31"/>
            <p:cNvSpPr/>
            <p:nvPr/>
          </p:nvSpPr>
          <p:spPr>
            <a:xfrm flipH="false" flipV="false" rot="0">
              <a:off x="0" y="0"/>
              <a:ext cx="235124" cy="233101"/>
            </a:xfrm>
            <a:custGeom>
              <a:avLst/>
              <a:gdLst/>
              <a:ahLst/>
              <a:cxnLst/>
              <a:rect r="r" b="b" t="t" l="l"/>
              <a:pathLst>
                <a:path h="233101" w="235124">
                  <a:moveTo>
                    <a:pt x="116550" y="0"/>
                  </a:moveTo>
                  <a:lnTo>
                    <a:pt x="118574" y="0"/>
                  </a:lnTo>
                  <a:cubicBezTo>
                    <a:pt x="182943" y="0"/>
                    <a:pt x="235124" y="52181"/>
                    <a:pt x="235124" y="116550"/>
                  </a:cubicBezTo>
                  <a:lnTo>
                    <a:pt x="235124" y="116550"/>
                  </a:lnTo>
                  <a:cubicBezTo>
                    <a:pt x="235124" y="180919"/>
                    <a:pt x="182943" y="233101"/>
                    <a:pt x="118574" y="233101"/>
                  </a:cubicBezTo>
                  <a:lnTo>
                    <a:pt x="116550" y="233101"/>
                  </a:lnTo>
                  <a:cubicBezTo>
                    <a:pt x="52181" y="233101"/>
                    <a:pt x="0" y="180919"/>
                    <a:pt x="0" y="116550"/>
                  </a:cubicBezTo>
                  <a:lnTo>
                    <a:pt x="0" y="116550"/>
                  </a:lnTo>
                  <a:cubicBezTo>
                    <a:pt x="0" y="52181"/>
                    <a:pt x="52181" y="0"/>
                    <a:pt x="116550" y="0"/>
                  </a:cubicBezTo>
                  <a:close/>
                </a:path>
              </a:pathLst>
            </a:custGeom>
            <a:solidFill>
              <a:srgbClr val="EADACD"/>
            </a:solidFill>
          </p:spPr>
        </p:sp>
        <p:sp>
          <p:nvSpPr>
            <p:cNvPr name="TextBox 32" id="32"/>
            <p:cNvSpPr txBox="true"/>
            <p:nvPr/>
          </p:nvSpPr>
          <p:spPr>
            <a:xfrm>
              <a:off x="0" y="-47625"/>
              <a:ext cx="235124" cy="280726"/>
            </a:xfrm>
            <a:prstGeom prst="rect">
              <a:avLst/>
            </a:prstGeom>
          </p:spPr>
          <p:txBody>
            <a:bodyPr anchor="ctr" rtlCol="false" tIns="50800" lIns="50800" bIns="50800" rIns="50800"/>
            <a:lstStyle/>
            <a:p>
              <a:pPr algn="ctr">
                <a:lnSpc>
                  <a:spcPts val="3079"/>
                </a:lnSpc>
                <a:spcBef>
                  <a:spcPct val="0"/>
                </a:spcBef>
              </a:pPr>
              <a:r>
                <a:rPr lang="en-US" sz="2199">
                  <a:solidFill>
                    <a:srgbClr val="D48B64"/>
                  </a:solidFill>
                  <a:latin typeface="Belleza"/>
                  <a:ea typeface="Belleza"/>
                  <a:cs typeface="Belleza"/>
                  <a:sym typeface="Belleza"/>
                </a:rPr>
                <a:t>4</a:t>
              </a:r>
            </a:p>
          </p:txBody>
        </p:sp>
      </p:grpSp>
      <p:grpSp>
        <p:nvGrpSpPr>
          <p:cNvPr name="Group 33" id="33"/>
          <p:cNvGrpSpPr/>
          <p:nvPr/>
        </p:nvGrpSpPr>
        <p:grpSpPr>
          <a:xfrm rot="0">
            <a:off x="1492702" y="7910803"/>
            <a:ext cx="745230" cy="738817"/>
            <a:chOff x="0" y="0"/>
            <a:chExt cx="235124" cy="233101"/>
          </a:xfrm>
        </p:grpSpPr>
        <p:sp>
          <p:nvSpPr>
            <p:cNvPr name="Freeform 34" id="34"/>
            <p:cNvSpPr/>
            <p:nvPr/>
          </p:nvSpPr>
          <p:spPr>
            <a:xfrm flipH="false" flipV="false" rot="0">
              <a:off x="0" y="0"/>
              <a:ext cx="235124" cy="233101"/>
            </a:xfrm>
            <a:custGeom>
              <a:avLst/>
              <a:gdLst/>
              <a:ahLst/>
              <a:cxnLst/>
              <a:rect r="r" b="b" t="t" l="l"/>
              <a:pathLst>
                <a:path h="233101" w="235124">
                  <a:moveTo>
                    <a:pt x="116550" y="0"/>
                  </a:moveTo>
                  <a:lnTo>
                    <a:pt x="118574" y="0"/>
                  </a:lnTo>
                  <a:cubicBezTo>
                    <a:pt x="182943" y="0"/>
                    <a:pt x="235124" y="52181"/>
                    <a:pt x="235124" y="116550"/>
                  </a:cubicBezTo>
                  <a:lnTo>
                    <a:pt x="235124" y="116550"/>
                  </a:lnTo>
                  <a:cubicBezTo>
                    <a:pt x="235124" y="180919"/>
                    <a:pt x="182943" y="233101"/>
                    <a:pt x="118574" y="233101"/>
                  </a:cubicBezTo>
                  <a:lnTo>
                    <a:pt x="116550" y="233101"/>
                  </a:lnTo>
                  <a:cubicBezTo>
                    <a:pt x="52181" y="233101"/>
                    <a:pt x="0" y="180919"/>
                    <a:pt x="0" y="116550"/>
                  </a:cubicBezTo>
                  <a:lnTo>
                    <a:pt x="0" y="116550"/>
                  </a:lnTo>
                  <a:cubicBezTo>
                    <a:pt x="0" y="52181"/>
                    <a:pt x="52181" y="0"/>
                    <a:pt x="116550" y="0"/>
                  </a:cubicBezTo>
                  <a:close/>
                </a:path>
              </a:pathLst>
            </a:custGeom>
            <a:solidFill>
              <a:srgbClr val="EADACD"/>
            </a:solidFill>
          </p:spPr>
        </p:sp>
        <p:sp>
          <p:nvSpPr>
            <p:cNvPr name="TextBox 35" id="35"/>
            <p:cNvSpPr txBox="true"/>
            <p:nvPr/>
          </p:nvSpPr>
          <p:spPr>
            <a:xfrm>
              <a:off x="0" y="-47625"/>
              <a:ext cx="235124" cy="280726"/>
            </a:xfrm>
            <a:prstGeom prst="rect">
              <a:avLst/>
            </a:prstGeom>
          </p:spPr>
          <p:txBody>
            <a:bodyPr anchor="ctr" rtlCol="false" tIns="50800" lIns="50800" bIns="50800" rIns="50800"/>
            <a:lstStyle/>
            <a:p>
              <a:pPr algn="ctr">
                <a:lnSpc>
                  <a:spcPts val="3079"/>
                </a:lnSpc>
                <a:spcBef>
                  <a:spcPct val="0"/>
                </a:spcBef>
              </a:pPr>
              <a:r>
                <a:rPr lang="en-US" sz="2199">
                  <a:solidFill>
                    <a:srgbClr val="D48B64"/>
                  </a:solidFill>
                  <a:latin typeface="Belleza"/>
                  <a:ea typeface="Belleza"/>
                  <a:cs typeface="Belleza"/>
                  <a:sym typeface="Belleza"/>
                </a:rPr>
                <a:t>5</a:t>
              </a:r>
            </a:p>
          </p:txBody>
        </p:sp>
      </p:grpSp>
      <p:sp>
        <p:nvSpPr>
          <p:cNvPr name="Freeform 36" id="36"/>
          <p:cNvSpPr/>
          <p:nvPr/>
        </p:nvSpPr>
        <p:spPr>
          <a:xfrm flipH="false" flipV="false" rot="0">
            <a:off x="10697747" y="3392525"/>
            <a:ext cx="5940137" cy="3957616"/>
          </a:xfrm>
          <a:custGeom>
            <a:avLst/>
            <a:gdLst/>
            <a:ahLst/>
            <a:cxnLst/>
            <a:rect r="r" b="b" t="t" l="l"/>
            <a:pathLst>
              <a:path h="3957616" w="5940137">
                <a:moveTo>
                  <a:pt x="0" y="0"/>
                </a:moveTo>
                <a:lnTo>
                  <a:pt x="5940138" y="0"/>
                </a:lnTo>
                <a:lnTo>
                  <a:pt x="5940138" y="3957617"/>
                </a:lnTo>
                <a:lnTo>
                  <a:pt x="0" y="3957617"/>
                </a:lnTo>
                <a:lnTo>
                  <a:pt x="0" y="0"/>
                </a:lnTo>
                <a:close/>
              </a:path>
            </a:pathLst>
          </a:custGeom>
          <a:blipFill>
            <a:blip r:embed="rId4"/>
            <a:stretch>
              <a:fillRect l="0" t="0" r="0" b="0"/>
            </a:stretch>
          </a:blipFill>
        </p:spPr>
      </p:sp>
      <p:sp>
        <p:nvSpPr>
          <p:cNvPr name="TextBox 37" id="37"/>
          <p:cNvSpPr txBox="true"/>
          <p:nvPr/>
        </p:nvSpPr>
        <p:spPr>
          <a:xfrm rot="0">
            <a:off x="1865317" y="1661988"/>
            <a:ext cx="6556365" cy="747163"/>
          </a:xfrm>
          <a:prstGeom prst="rect">
            <a:avLst/>
          </a:prstGeom>
        </p:spPr>
        <p:txBody>
          <a:bodyPr anchor="t" rtlCol="false" tIns="0" lIns="0" bIns="0" rIns="0">
            <a:spAutoFit/>
          </a:bodyPr>
          <a:lstStyle/>
          <a:p>
            <a:pPr algn="ctr">
              <a:lnSpc>
                <a:spcPts val="5490"/>
              </a:lnSpc>
            </a:pPr>
            <a:r>
              <a:rPr lang="en-US" sz="5602">
                <a:solidFill>
                  <a:srgbClr val="D48B64"/>
                </a:solidFill>
                <a:latin typeface="Belleza"/>
                <a:ea typeface="Belleza"/>
                <a:cs typeface="Belleza"/>
                <a:sym typeface="Belleza"/>
              </a:rPr>
              <a:t>ADVANTAGES</a:t>
            </a:r>
          </a:p>
        </p:txBody>
      </p:sp>
      <p:sp>
        <p:nvSpPr>
          <p:cNvPr name="TextBox 38" id="38"/>
          <p:cNvSpPr txBox="true"/>
          <p:nvPr/>
        </p:nvSpPr>
        <p:spPr>
          <a:xfrm rot="0">
            <a:off x="2445820" y="4700416"/>
            <a:ext cx="5565409" cy="533231"/>
          </a:xfrm>
          <a:prstGeom prst="rect">
            <a:avLst/>
          </a:prstGeom>
        </p:spPr>
        <p:txBody>
          <a:bodyPr anchor="t" rtlCol="false" tIns="0" lIns="0" bIns="0" rIns="0">
            <a:spAutoFit/>
          </a:bodyPr>
          <a:lstStyle/>
          <a:p>
            <a:pPr algn="l">
              <a:lnSpc>
                <a:spcPts val="4207"/>
              </a:lnSpc>
              <a:spcBef>
                <a:spcPct val="0"/>
              </a:spcBef>
            </a:pPr>
            <a:r>
              <a:rPr lang="en-US" sz="3005">
                <a:solidFill>
                  <a:srgbClr val="746F5B"/>
                </a:solidFill>
                <a:latin typeface="Belleza"/>
                <a:ea typeface="Belleza"/>
                <a:cs typeface="Belleza"/>
                <a:sym typeface="Belleza"/>
              </a:rPr>
              <a:t>Identifies most in-demand job skills</a:t>
            </a:r>
          </a:p>
        </p:txBody>
      </p:sp>
      <p:sp>
        <p:nvSpPr>
          <p:cNvPr name="TextBox 39" id="39"/>
          <p:cNvSpPr txBox="true"/>
          <p:nvPr/>
        </p:nvSpPr>
        <p:spPr>
          <a:xfrm rot="0">
            <a:off x="2445820" y="6885922"/>
            <a:ext cx="6446919" cy="533231"/>
          </a:xfrm>
          <a:prstGeom prst="rect">
            <a:avLst/>
          </a:prstGeom>
        </p:spPr>
        <p:txBody>
          <a:bodyPr anchor="t" rtlCol="false" tIns="0" lIns="0" bIns="0" rIns="0">
            <a:spAutoFit/>
          </a:bodyPr>
          <a:lstStyle/>
          <a:p>
            <a:pPr algn="l">
              <a:lnSpc>
                <a:spcPts val="4207"/>
              </a:lnSpc>
              <a:spcBef>
                <a:spcPct val="0"/>
              </a:spcBef>
            </a:pPr>
            <a:r>
              <a:rPr lang="en-US" sz="3005">
                <a:solidFill>
                  <a:srgbClr val="746F5B"/>
                </a:solidFill>
                <a:latin typeface="Belleza"/>
                <a:ea typeface="Belleza"/>
                <a:cs typeface="Belleza"/>
                <a:sym typeface="Belleza"/>
              </a:rPr>
              <a:t>Uses visualizations for easy understanding</a:t>
            </a:r>
          </a:p>
        </p:txBody>
      </p:sp>
      <p:sp>
        <p:nvSpPr>
          <p:cNvPr name="TextBox 40" id="40"/>
          <p:cNvSpPr txBox="true"/>
          <p:nvPr/>
        </p:nvSpPr>
        <p:spPr>
          <a:xfrm rot="0">
            <a:off x="2341876" y="7979925"/>
            <a:ext cx="7148321" cy="533231"/>
          </a:xfrm>
          <a:prstGeom prst="rect">
            <a:avLst/>
          </a:prstGeom>
        </p:spPr>
        <p:txBody>
          <a:bodyPr anchor="t" rtlCol="false" tIns="0" lIns="0" bIns="0" rIns="0">
            <a:spAutoFit/>
          </a:bodyPr>
          <a:lstStyle/>
          <a:p>
            <a:pPr algn="l">
              <a:lnSpc>
                <a:spcPts val="4207"/>
              </a:lnSpc>
              <a:spcBef>
                <a:spcPct val="0"/>
              </a:spcBef>
            </a:pPr>
            <a:r>
              <a:rPr lang="en-US" sz="3005">
                <a:solidFill>
                  <a:srgbClr val="746F5B"/>
                </a:solidFill>
                <a:latin typeface="Belleza"/>
                <a:ea typeface="Belleza"/>
                <a:cs typeface="Belleza"/>
                <a:sym typeface="Belleza"/>
              </a:rPr>
              <a:t>Enables data-driven career and hiring decision</a:t>
            </a:r>
          </a:p>
        </p:txBody>
      </p:sp>
      <p:sp>
        <p:nvSpPr>
          <p:cNvPr name="TextBox 41" id="41"/>
          <p:cNvSpPr txBox="true"/>
          <p:nvPr/>
        </p:nvSpPr>
        <p:spPr>
          <a:xfrm rot="0">
            <a:off x="2237932" y="3610148"/>
            <a:ext cx="6446919" cy="533231"/>
          </a:xfrm>
          <a:prstGeom prst="rect">
            <a:avLst/>
          </a:prstGeom>
        </p:spPr>
        <p:txBody>
          <a:bodyPr anchor="t" rtlCol="false" tIns="0" lIns="0" bIns="0" rIns="0">
            <a:spAutoFit/>
          </a:bodyPr>
          <a:lstStyle/>
          <a:p>
            <a:pPr algn="l">
              <a:lnSpc>
                <a:spcPts val="4207"/>
              </a:lnSpc>
              <a:spcBef>
                <a:spcPct val="0"/>
              </a:spcBef>
            </a:pPr>
            <a:r>
              <a:rPr lang="en-US" sz="3005">
                <a:solidFill>
                  <a:srgbClr val="746F5B"/>
                </a:solidFill>
                <a:latin typeface="Belleza"/>
                <a:ea typeface="Belleza"/>
                <a:cs typeface="Belleza"/>
                <a:sym typeface="Belleza"/>
              </a:rPr>
              <a:t>Reveals top-paying AI roles and industries</a:t>
            </a:r>
          </a:p>
        </p:txBody>
      </p:sp>
      <p:sp>
        <p:nvSpPr>
          <p:cNvPr name="TextBox 42" id="42"/>
          <p:cNvSpPr txBox="true"/>
          <p:nvPr/>
        </p:nvSpPr>
        <p:spPr>
          <a:xfrm rot="0">
            <a:off x="2445820" y="5794400"/>
            <a:ext cx="6239032" cy="533231"/>
          </a:xfrm>
          <a:prstGeom prst="rect">
            <a:avLst/>
          </a:prstGeom>
        </p:spPr>
        <p:txBody>
          <a:bodyPr anchor="t" rtlCol="false" tIns="0" lIns="0" bIns="0" rIns="0">
            <a:spAutoFit/>
          </a:bodyPr>
          <a:lstStyle/>
          <a:p>
            <a:pPr algn="l">
              <a:lnSpc>
                <a:spcPts val="4207"/>
              </a:lnSpc>
              <a:spcBef>
                <a:spcPct val="0"/>
              </a:spcBef>
            </a:pPr>
            <a:r>
              <a:rPr lang="en-US" sz="3005">
                <a:solidFill>
                  <a:srgbClr val="746F5B"/>
                </a:solidFill>
                <a:latin typeface="Belleza"/>
                <a:ea typeface="Belleza"/>
                <a:cs typeface="Belleza"/>
                <a:sym typeface="Belleza"/>
              </a:rPr>
              <a:t>Highlights salary trends by experience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0"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312177" y="7311177"/>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49973" y="121285"/>
            <a:ext cx="2975823" cy="2975823"/>
          </a:xfrm>
          <a:custGeom>
            <a:avLst/>
            <a:gdLst/>
            <a:ahLst/>
            <a:cxnLst/>
            <a:rect r="r" b="b" t="t" l="l"/>
            <a:pathLst>
              <a:path h="2975823" w="2975823">
                <a:moveTo>
                  <a:pt x="0" y="0"/>
                </a:moveTo>
                <a:lnTo>
                  <a:pt x="2975823" y="0"/>
                </a:lnTo>
                <a:lnTo>
                  <a:pt x="2975823" y="2975823"/>
                </a:lnTo>
                <a:lnTo>
                  <a:pt x="0" y="2975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197228" y="504891"/>
            <a:ext cx="10406479" cy="1451050"/>
          </a:xfrm>
          <a:prstGeom prst="rect">
            <a:avLst/>
          </a:prstGeom>
        </p:spPr>
        <p:txBody>
          <a:bodyPr anchor="t" rtlCol="false" tIns="0" lIns="0" bIns="0" rIns="0">
            <a:spAutoFit/>
          </a:bodyPr>
          <a:lstStyle/>
          <a:p>
            <a:pPr algn="ctr">
              <a:lnSpc>
                <a:spcPts val="11899"/>
              </a:lnSpc>
              <a:spcBef>
                <a:spcPct val="0"/>
              </a:spcBef>
            </a:pPr>
            <a:r>
              <a:rPr lang="en-US" b="true" sz="8499" spc="-450">
                <a:solidFill>
                  <a:srgbClr val="FFFFFF"/>
                </a:solidFill>
                <a:latin typeface="Bricolage Grotesque Medium"/>
                <a:ea typeface="Bricolage Grotesque Medium"/>
                <a:cs typeface="Bricolage Grotesque Medium"/>
                <a:sym typeface="Bricolage Grotesque Medium"/>
              </a:rPr>
              <a:t>CONCLUSION</a:t>
            </a:r>
          </a:p>
        </p:txBody>
      </p:sp>
      <p:sp>
        <p:nvSpPr>
          <p:cNvPr name="TextBox 7" id="7"/>
          <p:cNvSpPr txBox="true"/>
          <p:nvPr/>
        </p:nvSpPr>
        <p:spPr>
          <a:xfrm rot="0">
            <a:off x="1189503" y="2623989"/>
            <a:ext cx="15325521" cy="5613698"/>
          </a:xfrm>
          <a:prstGeom prst="rect">
            <a:avLst/>
          </a:prstGeom>
        </p:spPr>
        <p:txBody>
          <a:bodyPr anchor="t" rtlCol="false" tIns="0" lIns="0" bIns="0" rIns="0">
            <a:spAutoFit/>
          </a:bodyPr>
          <a:lstStyle/>
          <a:p>
            <a:pPr algn="l" marL="863599" indent="-431800" lvl="1">
              <a:lnSpc>
                <a:spcPts val="5599"/>
              </a:lnSpc>
              <a:buFont typeface="Arial"/>
              <a:buChar char="•"/>
            </a:pPr>
            <a:r>
              <a:rPr lang="en-US" b="true" sz="3999" spc="-211">
                <a:solidFill>
                  <a:srgbClr val="FFFFFF"/>
                </a:solidFill>
                <a:latin typeface="Bricolage Grotesque Medium"/>
                <a:ea typeface="Bricolage Grotesque Medium"/>
                <a:cs typeface="Bricolage Grotesque Medium"/>
                <a:sym typeface="Bricolage Grotesque Medium"/>
              </a:rPr>
              <a:t>The analysis uncovered key trends in AI job salaries, skills, and employment types.</a:t>
            </a:r>
          </a:p>
          <a:p>
            <a:pPr algn="l" marL="863599" indent="-431800" lvl="1">
              <a:lnSpc>
                <a:spcPts val="5599"/>
              </a:lnSpc>
              <a:buFont typeface="Arial"/>
              <a:buChar char="•"/>
            </a:pPr>
            <a:r>
              <a:rPr lang="en-US" b="true" sz="3999" spc="-211">
                <a:solidFill>
                  <a:srgbClr val="FFFFFF"/>
                </a:solidFill>
                <a:latin typeface="Bricolage Grotesque Medium"/>
                <a:ea typeface="Bricolage Grotesque Medium"/>
                <a:cs typeface="Bricolage Grotesque Medium"/>
                <a:sym typeface="Bricolage Grotesque Medium"/>
              </a:rPr>
              <a:t>Salary varies significantly by role, experience, and location.</a:t>
            </a:r>
          </a:p>
          <a:p>
            <a:pPr algn="l" marL="863599" indent="-431800" lvl="1">
              <a:lnSpc>
                <a:spcPts val="5599"/>
              </a:lnSpc>
              <a:buFont typeface="Arial"/>
              <a:buChar char="•"/>
            </a:pPr>
            <a:r>
              <a:rPr lang="en-US" b="true" sz="3999" spc="-211">
                <a:solidFill>
                  <a:srgbClr val="FFFFFF"/>
                </a:solidFill>
                <a:latin typeface="Bricolage Grotesque Medium"/>
                <a:ea typeface="Bricolage Grotesque Medium"/>
                <a:cs typeface="Bricolage Grotesque Medium"/>
                <a:sym typeface="Bricolage Grotesque Medium"/>
              </a:rPr>
              <a:t>High-paying jobs demand specific skill sets, especially in AI/ML.</a:t>
            </a:r>
          </a:p>
          <a:p>
            <a:pPr algn="l" marL="863599" indent="-431800" lvl="1">
              <a:lnSpc>
                <a:spcPts val="5599"/>
              </a:lnSpc>
              <a:buFont typeface="Arial"/>
              <a:buChar char="•"/>
            </a:pPr>
            <a:r>
              <a:rPr lang="en-US" b="true" sz="3999" spc="-211">
                <a:solidFill>
                  <a:srgbClr val="FFFFFF"/>
                </a:solidFill>
                <a:latin typeface="Bricolage Grotesque Medium"/>
                <a:ea typeface="Bricolage Grotesque Medium"/>
                <a:cs typeface="Bricolage Grotesque Medium"/>
                <a:sym typeface="Bricolage Grotesque Medium"/>
              </a:rPr>
              <a:t>Visual insights help job seekers and recruiters make informed decisions.</a:t>
            </a:r>
          </a:p>
          <a:p>
            <a:pPr algn="l" marL="863599" indent="-431800" lvl="1">
              <a:lnSpc>
                <a:spcPts val="5599"/>
              </a:lnSpc>
              <a:buFont typeface="Arial"/>
              <a:buChar char="•"/>
            </a:pPr>
            <a:r>
              <a:rPr lang="en-US" b="true" sz="3999" spc="-211">
                <a:solidFill>
                  <a:srgbClr val="FFFFFF"/>
                </a:solidFill>
                <a:latin typeface="Bricolage Grotesque Medium"/>
                <a:ea typeface="Bricolage Grotesque Medium"/>
                <a:cs typeface="Bricolage Grotesque Medium"/>
                <a:sym typeface="Bricolage Grotesque Medium"/>
              </a:rPr>
              <a:t>The project demonstrates the power of Python in real-world data analysis.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12121">
                <a:alpha val="100000"/>
              </a:srgbClr>
            </a:gs>
            <a:gs pos="50000">
              <a:srgbClr val="747474">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028700" y="1028700"/>
            <a:ext cx="2148058" cy="2148058"/>
          </a:xfrm>
          <a:custGeom>
            <a:avLst/>
            <a:gdLst/>
            <a:ahLst/>
            <a:cxnLst/>
            <a:rect r="r" b="b" t="t" l="l"/>
            <a:pathLst>
              <a:path h="2148058" w="2148058">
                <a:moveTo>
                  <a:pt x="0" y="0"/>
                </a:moveTo>
                <a:lnTo>
                  <a:pt x="2148058" y="0"/>
                </a:lnTo>
                <a:lnTo>
                  <a:pt x="2148058" y="2148058"/>
                </a:lnTo>
                <a:lnTo>
                  <a:pt x="0" y="21480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111242" y="7110242"/>
            <a:ext cx="2148058" cy="2148058"/>
          </a:xfrm>
          <a:custGeom>
            <a:avLst/>
            <a:gdLst/>
            <a:ahLst/>
            <a:cxnLst/>
            <a:rect r="r" b="b" t="t" l="l"/>
            <a:pathLst>
              <a:path h="2148058" w="2148058">
                <a:moveTo>
                  <a:pt x="0" y="0"/>
                </a:moveTo>
                <a:lnTo>
                  <a:pt x="2148058" y="0"/>
                </a:lnTo>
                <a:lnTo>
                  <a:pt x="2148058" y="2148058"/>
                </a:lnTo>
                <a:lnTo>
                  <a:pt x="0" y="21480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691994" y="8400524"/>
            <a:ext cx="5824404" cy="857776"/>
          </a:xfrm>
          <a:custGeom>
            <a:avLst/>
            <a:gdLst/>
            <a:ahLst/>
            <a:cxnLst/>
            <a:rect r="r" b="b" t="t" l="l"/>
            <a:pathLst>
              <a:path h="857776" w="5824404">
                <a:moveTo>
                  <a:pt x="0" y="0"/>
                </a:moveTo>
                <a:lnTo>
                  <a:pt x="5824404" y="0"/>
                </a:lnTo>
                <a:lnTo>
                  <a:pt x="5824404" y="857776"/>
                </a:lnTo>
                <a:lnTo>
                  <a:pt x="0" y="8577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8302624"/>
            <a:ext cx="6859602" cy="955676"/>
          </a:xfrm>
          <a:prstGeom prst="rect">
            <a:avLst/>
          </a:prstGeom>
        </p:spPr>
        <p:txBody>
          <a:bodyPr anchor="t" rtlCol="false" tIns="0" lIns="0" bIns="0" rIns="0">
            <a:spAutoFit/>
          </a:bodyPr>
          <a:lstStyle/>
          <a:p>
            <a:pPr algn="l">
              <a:lnSpc>
                <a:spcPts val="6800"/>
              </a:lnSpc>
            </a:pPr>
            <a:r>
              <a:rPr lang="en-US" b="true" sz="8000" spc="-424">
                <a:solidFill>
                  <a:srgbClr val="FFFFFF"/>
                </a:solidFill>
                <a:latin typeface="Bricolage Grotesque Medium"/>
                <a:ea typeface="Bricolage Grotesque Medium"/>
                <a:cs typeface="Bricolage Grotesque Medium"/>
                <a:sym typeface="Bricolage Grotesque Medium"/>
              </a:rPr>
              <a:t>OUR TEAM</a:t>
            </a:r>
          </a:p>
        </p:txBody>
      </p:sp>
      <p:sp>
        <p:nvSpPr>
          <p:cNvPr name="TextBox 6" id="6"/>
          <p:cNvSpPr txBox="true"/>
          <p:nvPr/>
        </p:nvSpPr>
        <p:spPr>
          <a:xfrm rot="0">
            <a:off x="6088483" y="2629351"/>
            <a:ext cx="5173518" cy="547407"/>
          </a:xfrm>
          <a:prstGeom prst="rect">
            <a:avLst/>
          </a:prstGeom>
        </p:spPr>
        <p:txBody>
          <a:bodyPr anchor="t" rtlCol="false" tIns="0" lIns="0" bIns="0" rIns="0">
            <a:spAutoFit/>
          </a:bodyPr>
          <a:lstStyle/>
          <a:p>
            <a:pPr algn="just">
              <a:lnSpc>
                <a:spcPts val="4480"/>
              </a:lnSpc>
              <a:spcBef>
                <a:spcPct val="0"/>
              </a:spcBef>
            </a:pPr>
            <a:r>
              <a:rPr lang="en-US" sz="3200">
                <a:solidFill>
                  <a:srgbClr val="FFFFFF"/>
                </a:solidFill>
                <a:latin typeface="Belleza"/>
                <a:ea typeface="Belleza"/>
                <a:cs typeface="Belleza"/>
                <a:sym typeface="Belleza"/>
              </a:rPr>
              <a:t>SHAIK IMRAN        (s201150)</a:t>
            </a:r>
          </a:p>
        </p:txBody>
      </p:sp>
      <p:sp>
        <p:nvSpPr>
          <p:cNvPr name="TextBox 7" id="7"/>
          <p:cNvSpPr txBox="true"/>
          <p:nvPr/>
        </p:nvSpPr>
        <p:spPr>
          <a:xfrm rot="0">
            <a:off x="6088483" y="3260747"/>
            <a:ext cx="7199777" cy="547407"/>
          </a:xfrm>
          <a:prstGeom prst="rect">
            <a:avLst/>
          </a:prstGeom>
        </p:spPr>
        <p:txBody>
          <a:bodyPr anchor="t" rtlCol="false" tIns="0" lIns="0" bIns="0" rIns="0">
            <a:spAutoFit/>
          </a:bodyPr>
          <a:lstStyle/>
          <a:p>
            <a:pPr algn="just">
              <a:lnSpc>
                <a:spcPts val="4480"/>
              </a:lnSpc>
              <a:spcBef>
                <a:spcPct val="0"/>
              </a:spcBef>
            </a:pPr>
            <a:r>
              <a:rPr lang="en-US" sz="3200">
                <a:solidFill>
                  <a:srgbClr val="FFFFFF"/>
                </a:solidFill>
                <a:latin typeface="Belleza"/>
                <a:ea typeface="Belleza"/>
                <a:cs typeface="Belleza"/>
                <a:sym typeface="Belleza"/>
              </a:rPr>
              <a:t>GARA SURENDRA KUMAR   (s200878)</a:t>
            </a:r>
          </a:p>
        </p:txBody>
      </p:sp>
      <p:sp>
        <p:nvSpPr>
          <p:cNvPr name="TextBox 8" id="8"/>
          <p:cNvSpPr txBox="true"/>
          <p:nvPr/>
        </p:nvSpPr>
        <p:spPr>
          <a:xfrm rot="0">
            <a:off x="6088483" y="3865304"/>
            <a:ext cx="6284064" cy="547407"/>
          </a:xfrm>
          <a:prstGeom prst="rect">
            <a:avLst/>
          </a:prstGeom>
        </p:spPr>
        <p:txBody>
          <a:bodyPr anchor="t" rtlCol="false" tIns="0" lIns="0" bIns="0" rIns="0">
            <a:spAutoFit/>
          </a:bodyPr>
          <a:lstStyle/>
          <a:p>
            <a:pPr algn="just">
              <a:lnSpc>
                <a:spcPts val="4480"/>
              </a:lnSpc>
              <a:spcBef>
                <a:spcPct val="0"/>
              </a:spcBef>
            </a:pPr>
            <a:r>
              <a:rPr lang="en-US" sz="3200">
                <a:solidFill>
                  <a:srgbClr val="FFFFFF"/>
                </a:solidFill>
                <a:latin typeface="Belleza"/>
                <a:ea typeface="Belleza"/>
                <a:cs typeface="Belleza"/>
                <a:sym typeface="Belleza"/>
              </a:rPr>
              <a:t>BAYYE VINOD BABU      (s200898)</a:t>
            </a:r>
          </a:p>
        </p:txBody>
      </p:sp>
      <p:sp>
        <p:nvSpPr>
          <p:cNvPr name="TextBox 9" id="9"/>
          <p:cNvSpPr txBox="true"/>
          <p:nvPr/>
        </p:nvSpPr>
        <p:spPr>
          <a:xfrm rot="0">
            <a:off x="6088483" y="4469861"/>
            <a:ext cx="5173518" cy="547407"/>
          </a:xfrm>
          <a:prstGeom prst="rect">
            <a:avLst/>
          </a:prstGeom>
        </p:spPr>
        <p:txBody>
          <a:bodyPr anchor="t" rtlCol="false" tIns="0" lIns="0" bIns="0" rIns="0">
            <a:spAutoFit/>
          </a:bodyPr>
          <a:lstStyle/>
          <a:p>
            <a:pPr algn="just">
              <a:lnSpc>
                <a:spcPts val="4480"/>
              </a:lnSpc>
              <a:spcBef>
                <a:spcPct val="0"/>
              </a:spcBef>
            </a:pPr>
            <a:r>
              <a:rPr lang="en-US" sz="3200">
                <a:solidFill>
                  <a:srgbClr val="FFFFFF"/>
                </a:solidFill>
                <a:latin typeface="Belleza"/>
                <a:ea typeface="Belleza"/>
                <a:cs typeface="Belleza"/>
                <a:sym typeface="Belleza"/>
              </a:rPr>
              <a:t>SHAIK JAVEED       (s200845)</a:t>
            </a:r>
          </a:p>
        </p:txBody>
      </p:sp>
      <p:sp>
        <p:nvSpPr>
          <p:cNvPr name="TextBox 10" id="10"/>
          <p:cNvSpPr txBox="true"/>
          <p:nvPr/>
        </p:nvSpPr>
        <p:spPr>
          <a:xfrm rot="0">
            <a:off x="6088483" y="5076825"/>
            <a:ext cx="8173939" cy="547407"/>
          </a:xfrm>
          <a:prstGeom prst="rect">
            <a:avLst/>
          </a:prstGeom>
        </p:spPr>
        <p:txBody>
          <a:bodyPr anchor="t" rtlCol="false" tIns="0" lIns="0" bIns="0" rIns="0">
            <a:spAutoFit/>
          </a:bodyPr>
          <a:lstStyle/>
          <a:p>
            <a:pPr algn="just">
              <a:lnSpc>
                <a:spcPts val="4480"/>
              </a:lnSpc>
              <a:spcBef>
                <a:spcPct val="0"/>
              </a:spcBef>
            </a:pPr>
            <a:r>
              <a:rPr lang="en-US" sz="3200">
                <a:solidFill>
                  <a:srgbClr val="FFFFFF"/>
                </a:solidFill>
                <a:latin typeface="Belleza"/>
                <a:ea typeface="Belleza"/>
                <a:cs typeface="Belleza"/>
                <a:sym typeface="Belleza"/>
              </a:rPr>
              <a:t>NATUKULA CHAITHANYA KUMAR    (s200712)</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58489">
                <a:alpha val="100000"/>
              </a:srgbClr>
            </a:gs>
            <a:gs pos="25000">
              <a:srgbClr val="E7E4EF">
                <a:alpha val="100000"/>
              </a:srgbClr>
            </a:gs>
            <a:gs pos="50000">
              <a:srgbClr val="858489">
                <a:alpha val="100000"/>
              </a:srgbClr>
            </a:gs>
            <a:gs pos="75000">
              <a:srgbClr val="B9B9B9">
                <a:alpha val="100000"/>
              </a:srgbClr>
            </a:gs>
            <a:gs pos="100000">
              <a:srgbClr val="858489">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5726259" y="4526598"/>
            <a:ext cx="6429812" cy="1375828"/>
          </a:xfrm>
          <a:prstGeom prst="rect">
            <a:avLst/>
          </a:prstGeom>
        </p:spPr>
        <p:txBody>
          <a:bodyPr anchor="t" rtlCol="false" tIns="0" lIns="0" bIns="0" rIns="0">
            <a:spAutoFit/>
          </a:bodyPr>
          <a:lstStyle/>
          <a:p>
            <a:pPr algn="ctr">
              <a:lnSpc>
                <a:spcPts val="9792"/>
              </a:lnSpc>
            </a:pPr>
            <a:r>
              <a:rPr lang="en-US" sz="11941" spc="-203">
                <a:solidFill>
                  <a:srgbClr val="625644"/>
                </a:solidFill>
                <a:latin typeface="Yesteryear"/>
                <a:ea typeface="Yesteryear"/>
                <a:cs typeface="Yesteryear"/>
                <a:sym typeface="Yesteryear"/>
              </a:rPr>
              <a:t>Thank You</a:t>
            </a:r>
          </a:p>
        </p:txBody>
      </p:sp>
      <p:sp>
        <p:nvSpPr>
          <p:cNvPr name="Freeform 3" id="3"/>
          <p:cNvSpPr/>
          <p:nvPr/>
        </p:nvSpPr>
        <p:spPr>
          <a:xfrm flipH="false" flipV="false" rot="10649293">
            <a:off x="583899" y="652662"/>
            <a:ext cx="2795158" cy="2993476"/>
          </a:xfrm>
          <a:custGeom>
            <a:avLst/>
            <a:gdLst/>
            <a:ahLst/>
            <a:cxnLst/>
            <a:rect r="r" b="b" t="t" l="l"/>
            <a:pathLst>
              <a:path h="2993476" w="2795158">
                <a:moveTo>
                  <a:pt x="0" y="0"/>
                </a:moveTo>
                <a:lnTo>
                  <a:pt x="2795158" y="0"/>
                </a:lnTo>
                <a:lnTo>
                  <a:pt x="2795158" y="2993476"/>
                </a:lnTo>
                <a:lnTo>
                  <a:pt x="0" y="2993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10649293">
            <a:off x="15119513" y="6932930"/>
            <a:ext cx="2795158" cy="2993476"/>
          </a:xfrm>
          <a:custGeom>
            <a:avLst/>
            <a:gdLst/>
            <a:ahLst/>
            <a:cxnLst/>
            <a:rect r="r" b="b" t="t" l="l"/>
            <a:pathLst>
              <a:path h="2993476" w="2795158">
                <a:moveTo>
                  <a:pt x="2795158" y="2993476"/>
                </a:moveTo>
                <a:lnTo>
                  <a:pt x="0" y="2993476"/>
                </a:lnTo>
                <a:lnTo>
                  <a:pt x="0" y="0"/>
                </a:lnTo>
                <a:lnTo>
                  <a:pt x="2795158" y="0"/>
                </a:lnTo>
                <a:lnTo>
                  <a:pt x="2795158" y="299347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1965405">
            <a:off x="1540848" y="823485"/>
            <a:ext cx="1259078" cy="2316030"/>
          </a:xfrm>
          <a:custGeom>
            <a:avLst/>
            <a:gdLst/>
            <a:ahLst/>
            <a:cxnLst/>
            <a:rect r="r" b="b" t="t" l="l"/>
            <a:pathLst>
              <a:path h="2316030" w="1259078">
                <a:moveTo>
                  <a:pt x="0" y="2316030"/>
                </a:moveTo>
                <a:lnTo>
                  <a:pt x="1259078" y="2316030"/>
                </a:lnTo>
                <a:lnTo>
                  <a:pt x="1259078" y="0"/>
                </a:lnTo>
                <a:lnTo>
                  <a:pt x="0" y="0"/>
                </a:lnTo>
                <a:lnTo>
                  <a:pt x="0" y="23160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1965405">
            <a:off x="15887553" y="7661929"/>
            <a:ext cx="1259078" cy="2316030"/>
          </a:xfrm>
          <a:custGeom>
            <a:avLst/>
            <a:gdLst/>
            <a:ahLst/>
            <a:cxnLst/>
            <a:rect r="r" b="b" t="t" l="l"/>
            <a:pathLst>
              <a:path h="2316030" w="1259078">
                <a:moveTo>
                  <a:pt x="1259078" y="0"/>
                </a:moveTo>
                <a:lnTo>
                  <a:pt x="0" y="0"/>
                </a:lnTo>
                <a:lnTo>
                  <a:pt x="0" y="2316029"/>
                </a:lnTo>
                <a:lnTo>
                  <a:pt x="1259078" y="2316029"/>
                </a:lnTo>
                <a:lnTo>
                  <a:pt x="125907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729422">
            <a:off x="14506455" y="338782"/>
            <a:ext cx="2680545" cy="2715101"/>
          </a:xfrm>
          <a:custGeom>
            <a:avLst/>
            <a:gdLst/>
            <a:ahLst/>
            <a:cxnLst/>
            <a:rect r="r" b="b" t="t" l="l"/>
            <a:pathLst>
              <a:path h="2715101" w="2680545">
                <a:moveTo>
                  <a:pt x="0" y="0"/>
                </a:moveTo>
                <a:lnTo>
                  <a:pt x="2680546" y="0"/>
                </a:lnTo>
                <a:lnTo>
                  <a:pt x="2680546" y="2715101"/>
                </a:lnTo>
                <a:lnTo>
                  <a:pt x="0" y="27151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886352">
            <a:off x="511330" y="7072117"/>
            <a:ext cx="2680545" cy="2715101"/>
          </a:xfrm>
          <a:custGeom>
            <a:avLst/>
            <a:gdLst/>
            <a:ahLst/>
            <a:cxnLst/>
            <a:rect r="r" b="b" t="t" l="l"/>
            <a:pathLst>
              <a:path h="2715101" w="2680545">
                <a:moveTo>
                  <a:pt x="0" y="0"/>
                </a:moveTo>
                <a:lnTo>
                  <a:pt x="2680545" y="0"/>
                </a:lnTo>
                <a:lnTo>
                  <a:pt x="2680545" y="2715102"/>
                </a:lnTo>
                <a:lnTo>
                  <a:pt x="0" y="27151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DAGrs8pWu7E</dc:identifier>
  <dcterms:modified xsi:type="dcterms:W3CDTF">2011-08-01T06:04:30Z</dcterms:modified>
  <cp:revision>1</cp:revision>
  <dc:title>Black and White Futuristic Modern Artificial Intelligence Presentation</dc:title>
</cp:coreProperties>
</file>